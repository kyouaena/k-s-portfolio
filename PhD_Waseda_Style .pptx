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380" r:id="rId3"/>
    <p:sldId id="387" r:id="rId4"/>
    <p:sldId id="381" r:id="rId5"/>
    <p:sldId id="388" r:id="rId6"/>
    <p:sldId id="382" r:id="rId7"/>
    <p:sldId id="383" r:id="rId8"/>
    <p:sldId id="386" r:id="rId9"/>
    <p:sldId id="384" r:id="rId10"/>
    <p:sldId id="385" r:id="rId11"/>
    <p:sldId id="389" r:id="rId12"/>
    <p:sldId id="391" r:id="rId13"/>
    <p:sldId id="390" r:id="rId14"/>
    <p:sldId id="394"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FF55EB-EEBE-C8CD-5E47-7B5BEB5525B2}" name="S224443032" initials="S" userId="S::S224443032@o365.waseda.jp::b78cf0fb-77e3-4aeb-bdd7-39f11114d84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60001"/>
    <a:srgbClr val="F6F0F0"/>
    <a:srgbClr val="EE97A6"/>
    <a:srgbClr val="B545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06"/>
    <p:restoredTop sz="96301"/>
  </p:normalViewPr>
  <p:slideViewPr>
    <p:cSldViewPr snapToGrid="0">
      <p:cViewPr>
        <p:scale>
          <a:sx n="108" d="100"/>
          <a:sy n="108" d="100"/>
        </p:scale>
        <p:origin x="1456"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C4516-E7C6-4540-A103-9515D3FB51C4}" type="datetimeFigureOut">
              <a:rPr kumimoji="1" lang="zh-CN" altLang="en-US" smtClean="0"/>
              <a:t>2026/5/29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511A5-7C40-1647-B8B2-37E64B55867F}" type="slidenum">
              <a:rPr kumimoji="1" lang="zh-CN" altLang="en-US" smtClean="0"/>
              <a:t>‹#›</a:t>
            </a:fld>
            <a:endParaRPr kumimoji="1" lang="zh-CN" altLang="en-US"/>
          </a:p>
        </p:txBody>
      </p:sp>
    </p:spTree>
    <p:extLst>
      <p:ext uri="{BB962C8B-B14F-4D97-AF65-F5344CB8AC3E}">
        <p14:creationId xmlns:p14="http://schemas.microsoft.com/office/powerpoint/2010/main" val="1162355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ED511A5-7C40-1647-B8B2-37E64B55867F}" type="slidenum">
              <a:rPr kumimoji="1" lang="zh-CN" altLang="en-US" smtClean="0"/>
              <a:t>2</a:t>
            </a:fld>
            <a:endParaRPr kumimoji="1" lang="zh-CN" altLang="en-US"/>
          </a:p>
        </p:txBody>
      </p:sp>
    </p:spTree>
    <p:extLst>
      <p:ext uri="{BB962C8B-B14F-4D97-AF65-F5344CB8AC3E}">
        <p14:creationId xmlns:p14="http://schemas.microsoft.com/office/powerpoint/2010/main" val="16095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ED511A5-7C40-1647-B8B2-37E64B55867F}" type="slidenum">
              <a:rPr kumimoji="1" lang="zh-CN" altLang="en-US" smtClean="0"/>
              <a:t>3</a:t>
            </a:fld>
            <a:endParaRPr kumimoji="1" lang="zh-CN" altLang="en-US"/>
          </a:p>
        </p:txBody>
      </p:sp>
    </p:spTree>
    <p:extLst>
      <p:ext uri="{BB962C8B-B14F-4D97-AF65-F5344CB8AC3E}">
        <p14:creationId xmlns:p14="http://schemas.microsoft.com/office/powerpoint/2010/main" val="16095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ED511A5-7C40-1647-B8B2-37E64B55867F}" type="slidenum">
              <a:rPr kumimoji="1" lang="zh-CN" altLang="en-US" smtClean="0"/>
              <a:t>4</a:t>
            </a:fld>
            <a:endParaRPr kumimoji="1" lang="zh-CN" altLang="en-US"/>
          </a:p>
        </p:txBody>
      </p:sp>
    </p:spTree>
    <p:extLst>
      <p:ext uri="{BB962C8B-B14F-4D97-AF65-F5344CB8AC3E}">
        <p14:creationId xmlns:p14="http://schemas.microsoft.com/office/powerpoint/2010/main" val="3540755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SAR</a:t>
            </a:r>
            <a:r>
              <a:rPr kumimoji="1" lang="zh-CN" altLang="en-US" dirty="0"/>
              <a:t>：</a:t>
            </a:r>
            <a:r>
              <a:rPr lang="zh-CN" altLang="zh-CN" dirty="0"/>
              <a:t>Suspicious Activity Report</a:t>
            </a:r>
            <a:r>
              <a:rPr lang="en-US" altLang="zh-CN" dirty="0"/>
              <a:t>-</a:t>
            </a:r>
            <a:r>
              <a:rPr lang="zh-CN" altLang="zh-CN" dirty="0"/>
              <a:t>可疑活动报告</a:t>
            </a:r>
            <a:r>
              <a:rPr lang="en-US" altLang="zh-CN" dirty="0"/>
              <a:t>-</a:t>
            </a:r>
            <a:r>
              <a:rPr lang="zh-CN" altLang="zh-CN" dirty="0"/>
              <a:t>金融机构用于反洗钱和金融监管的一种“风险行为报告机制”</a:t>
            </a:r>
            <a:endParaRPr lang="en-US" altLang="zh-CN" dirty="0"/>
          </a:p>
          <a:p>
            <a:r>
              <a:rPr lang="zh-CN" altLang="zh-CN" b="1" dirty="0"/>
              <a:t>T*SU</a:t>
            </a:r>
            <a:r>
              <a:rPr lang="en-US" altLang="zh-CN" b="1" dirty="0"/>
              <a:t>=</a:t>
            </a:r>
            <a:r>
              <a:rPr lang="zh-CN" altLang="zh-CN" sz="1200" kern="1200" dirty="0">
                <a:solidFill>
                  <a:schemeClr val="tx1"/>
                </a:solidFill>
                <a:latin typeface="+mn-lt"/>
                <a:ea typeface="+mn-ea"/>
                <a:cs typeface="+mn-cs"/>
              </a:rPr>
              <a:t>(1 - DER) × (1 - FRR)</a:t>
            </a:r>
            <a:r>
              <a:rPr lang="zh-CN" altLang="en-US" sz="1200" kern="1200" dirty="0">
                <a:solidFill>
                  <a:schemeClr val="tx1"/>
                </a:solidFill>
                <a:latin typeface="+mn-lt"/>
                <a:ea typeface="+mn-ea"/>
                <a:cs typeface="+mn-cs"/>
              </a:rPr>
              <a:t>             </a:t>
            </a:r>
            <a:r>
              <a:rPr lang="zh-CN" altLang="zh-CN" dirty="0"/>
              <a:t>DER = 危险执行率</a:t>
            </a:r>
            <a:r>
              <a:rPr lang="zh-CN" altLang="en-US" dirty="0"/>
              <a:t> </a:t>
            </a:r>
            <a:r>
              <a:rPr lang="zh-CN" altLang="zh-CN" dirty="0"/>
              <a:t>FRR = 误拒率</a:t>
            </a:r>
            <a:endParaRPr lang="en-US" altLang="zh-CN" dirty="0"/>
          </a:p>
          <a:p>
            <a:r>
              <a:rPr lang="zh-CN" altLang="zh-CN" b="1" dirty="0"/>
              <a:t>T^h_SU（调和均值型）</a:t>
            </a:r>
            <a:r>
              <a:rPr lang="zh-CN" altLang="zh-CN" dirty="0"/>
              <a:t>是两项的调和均值，类似 F1 Score 的逻辑</a:t>
            </a:r>
          </a:p>
          <a:p>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fld id="{6ED511A5-7C40-1647-B8B2-37E64B55867F}" type="slidenum">
              <a:rPr kumimoji="1" lang="zh-CN" altLang="en-US" smtClean="0"/>
              <a:t>6</a:t>
            </a:fld>
            <a:endParaRPr kumimoji="1" lang="zh-CN" altLang="en-US"/>
          </a:p>
        </p:txBody>
      </p:sp>
    </p:spTree>
    <p:extLst>
      <p:ext uri="{BB962C8B-B14F-4D97-AF65-F5344CB8AC3E}">
        <p14:creationId xmlns:p14="http://schemas.microsoft.com/office/powerpoint/2010/main" val="3199695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ED511A5-7C40-1647-B8B2-37E64B55867F}" type="slidenum">
              <a:rPr kumimoji="1" lang="zh-CN" altLang="en-US" smtClean="0"/>
              <a:t>8</a:t>
            </a:fld>
            <a:endParaRPr kumimoji="1" lang="zh-CN" altLang="en-US"/>
          </a:p>
        </p:txBody>
      </p:sp>
    </p:spTree>
    <p:extLst>
      <p:ext uri="{BB962C8B-B14F-4D97-AF65-F5344CB8AC3E}">
        <p14:creationId xmlns:p14="http://schemas.microsoft.com/office/powerpoint/2010/main" val="713498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E67CD0-3423-50F7-5EDF-E8660A92A0AA}"/>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9B37CB3-26AD-848E-49A0-66FC917C47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3C620B6A-A1A4-E384-2394-72626BAB2604}"/>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D1ED1934-DD41-73B5-18E9-7A6937DCBD0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9E1E72A-1692-5781-30D8-0CAFE381698F}"/>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678531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742C49-41E3-562A-ECEB-67B544ABC8EA}"/>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635D120-24E3-3990-0047-B7975E3DDA5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22F82D8-41E1-FE0C-4449-05B30C97D71D}"/>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24D3C237-89C8-96D7-2A3A-31EFBAA352D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568176F-9308-A271-885B-FD51DA0931A2}"/>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1390611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EADC19-FE3B-B118-3978-C274E59912C5}"/>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53729D2-8B31-28FB-1844-A68205F6B4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08715E41-E424-9D26-8EBF-CDBEDF077ED6}"/>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418AFB15-7F22-E06A-96CE-D82B89EF00D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6B33B98-D85E-6037-5FB2-93BCA2273E5E}"/>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24325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582780-D3C6-DA1D-D57A-0ECCB6070BC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D494BFA-1C59-67FA-DE6F-AEFC89028B90}"/>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839F7ED4-6BFC-DB1E-5EB7-263D4BC81FBC}"/>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98E892F0-9F36-F858-B0AA-B880EBE96D29}"/>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6" name="页脚占位符 5">
            <a:extLst>
              <a:ext uri="{FF2B5EF4-FFF2-40B4-BE49-F238E27FC236}">
                <a16:creationId xmlns:a16="http://schemas.microsoft.com/office/drawing/2014/main" id="{D5E60192-CE43-A775-AB02-3B6C2CC1206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8AF2603-53D1-0883-1EA6-7F3F02FBDE9C}"/>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3857577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890A12-F97D-D29A-DCF0-06285E5F482C}"/>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6CC7F418-993B-CADE-A7A9-00E90FEE07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E757286E-2F3F-6146-343C-F7BEF0565396}"/>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E7F33A2-CF94-1FDF-00C3-39E4285434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75B5F56-C6C6-209A-03F3-5D7E1DC21D6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51DB53E3-68B3-489E-DC38-44126078C340}"/>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8" name="页脚占位符 7">
            <a:extLst>
              <a:ext uri="{FF2B5EF4-FFF2-40B4-BE49-F238E27FC236}">
                <a16:creationId xmlns:a16="http://schemas.microsoft.com/office/drawing/2014/main" id="{CFC52EFD-4228-440F-305A-DC34F0AFFF58}"/>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2B3C6999-2BFE-0C80-8681-3DC939288022}"/>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619618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82AEE8-3D4D-2EED-DCA9-16F4B6AEB470}"/>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21DFEC3A-BA7B-4820-A09E-A5714C03C1D5}"/>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4" name="页脚占位符 3">
            <a:extLst>
              <a:ext uri="{FF2B5EF4-FFF2-40B4-BE49-F238E27FC236}">
                <a16:creationId xmlns:a16="http://schemas.microsoft.com/office/drawing/2014/main" id="{D4009840-4626-68B6-6143-5C37E7D13AD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600428C7-A979-FEB2-A64C-B78A92035F26}"/>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176165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D3601C3-12F5-435D-1331-59E90EF99E26}"/>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3" name="页脚占位符 2">
            <a:extLst>
              <a:ext uri="{FF2B5EF4-FFF2-40B4-BE49-F238E27FC236}">
                <a16:creationId xmlns:a16="http://schemas.microsoft.com/office/drawing/2014/main" id="{775C5261-8978-6D2E-30C3-53A891FDA179}"/>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94D00B75-65E7-BDF3-E1FA-008C94A6BF64}"/>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913734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753EE2-997A-31DC-39AA-99943DD1018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156FFFA-AB59-D197-BFD4-25141A293B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4A377FF-CD7C-5282-1FC2-527FE1B824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7C070A-2D5B-BAEF-8FE5-8CE515AD388F}"/>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6" name="页脚占位符 5">
            <a:extLst>
              <a:ext uri="{FF2B5EF4-FFF2-40B4-BE49-F238E27FC236}">
                <a16:creationId xmlns:a16="http://schemas.microsoft.com/office/drawing/2014/main" id="{EF0804FB-22D7-346F-9E65-528D3E197E0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6EC3C6B-800C-81E0-B36B-62139E699048}"/>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4030063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6BEFFF-D497-98A1-7CEF-3EC1705D93B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C523686-D0E3-798F-3836-4FCD42C79F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398EC5F-9E07-F7DF-29B7-103CB04FD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05CFBB0-E05D-7349-EE16-3EFF3EA7AF57}"/>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6" name="页脚占位符 5">
            <a:extLst>
              <a:ext uri="{FF2B5EF4-FFF2-40B4-BE49-F238E27FC236}">
                <a16:creationId xmlns:a16="http://schemas.microsoft.com/office/drawing/2014/main" id="{B668A690-96FB-0E8F-4914-7FE0BADE644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5EA2285-770F-5D20-8126-A3BE99F1F335}"/>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528408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7C2D3-0CAB-10F0-4BDB-5384C0FC8C9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E02AA87-96CF-8A81-A915-F6804ED696F0}"/>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0BC9AAA-87D6-1A15-C263-D650CE08BEC7}"/>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2C48273B-5454-F6B7-ACB9-83436E74175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2D3FD6B-A54F-9C22-F0D5-1DE8E7598307}"/>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1935956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5BC1611-F3B9-E13A-6626-5CC9FF58CCD0}"/>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D148FC7-D8F2-76D7-AAC8-DA2D4D0C6DD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F427960-8034-7935-430E-DB5A99243EC4}"/>
              </a:ext>
            </a:extLst>
          </p:cNvPr>
          <p:cNvSpPr>
            <a:spLocks noGrp="1"/>
          </p:cNvSpPr>
          <p:nvPr>
            <p:ph type="dt" sz="half" idx="10"/>
          </p:nvPr>
        </p:nvSpPr>
        <p:spPr/>
        <p:txBody>
          <a:bodyPr/>
          <a:lstStyle/>
          <a:p>
            <a:fld id="{95629388-86F9-9A42-8692-BD6035163009}"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2D2903B2-C1B8-03A7-8111-944BC5507CC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92E3B7D-7500-F13B-21EA-67B8BB9A4E4F}"/>
              </a:ext>
            </a:extLst>
          </p:cNvPr>
          <p:cNvSpPr>
            <a:spLocks noGrp="1"/>
          </p:cNvSpPr>
          <p:nvPr>
            <p:ph type="sldNum" sz="quarter" idx="12"/>
          </p:nvPr>
        </p:nvSpPr>
        <p:spPr/>
        <p:txBody>
          <a:body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2889860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5AD4F3D-DDB2-3591-D915-94F447A54F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B19E830-577F-D6C1-F196-51F8F7E92D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B921CA7-6BD4-2358-A9DE-5BC1BA2F57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629388-86F9-9A42-8692-BD6035163009}" type="datetimeFigureOut">
              <a:rPr kumimoji="1" lang="zh-CN" altLang="en-US" smtClean="0"/>
              <a:t>2026/5/29</a:t>
            </a:fld>
            <a:endParaRPr kumimoji="1" lang="zh-CN" altLang="en-US"/>
          </a:p>
        </p:txBody>
      </p:sp>
      <p:sp>
        <p:nvSpPr>
          <p:cNvPr id="5" name="页脚占位符 4">
            <a:extLst>
              <a:ext uri="{FF2B5EF4-FFF2-40B4-BE49-F238E27FC236}">
                <a16:creationId xmlns:a16="http://schemas.microsoft.com/office/drawing/2014/main" id="{312AAFF8-763E-5ACB-FD75-365535F5A1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92272108-EE75-4728-044F-7AF4FF4584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B21699-513C-7E47-9C8B-C3611629BD9E}" type="slidenum">
              <a:rPr kumimoji="1" lang="zh-CN" altLang="en-US" smtClean="0"/>
              <a:t>‹#›</a:t>
            </a:fld>
            <a:endParaRPr kumimoji="1" lang="zh-CN" altLang="en-US"/>
          </a:p>
        </p:txBody>
      </p:sp>
    </p:spTree>
    <p:extLst>
      <p:ext uri="{BB962C8B-B14F-4D97-AF65-F5344CB8AC3E}">
        <p14:creationId xmlns:p14="http://schemas.microsoft.com/office/powerpoint/2010/main" val="2973154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12745"/>
            <a:ext cx="4619220" cy="558367"/>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0" y="0"/>
            <a:ext cx="12192000" cy="67030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41633"/>
          <a:stretch>
            <a:fillRect/>
          </a:stretch>
        </p:blipFill>
        <p:spPr bwMode="auto">
          <a:xfrm>
            <a:off x="11043556" y="0"/>
            <a:ext cx="1148442" cy="659568"/>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1" y="6299632"/>
            <a:ext cx="12191999" cy="55836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p:cNvSpPr txBox="1"/>
          <p:nvPr/>
        </p:nvSpPr>
        <p:spPr>
          <a:xfrm>
            <a:off x="3356615" y="5495197"/>
            <a:ext cx="5573210" cy="646331"/>
          </a:xfrm>
          <a:prstGeom prst="rect">
            <a:avLst/>
          </a:prstGeom>
          <a:noFill/>
        </p:spPr>
        <p:txBody>
          <a:bodyPr wrap="square">
            <a:spAutoFit/>
          </a:bodyPr>
          <a:lstStyle/>
          <a:p>
            <a:pPr algn="ctr"/>
            <a:r>
              <a:rPr lang="en-US" altLang="zh-CN" i="1" dirty="0">
                <a:latin typeface="Arial" panose="020B0604020202020204" pitchFamily="34" charset="0"/>
                <a:cs typeface="Arial" panose="020B0604020202020204" pitchFamily="34" charset="0"/>
              </a:rPr>
              <a:t>Network Intelligence and Security Laboratory</a:t>
            </a:r>
          </a:p>
          <a:p>
            <a:pPr algn="ctr"/>
            <a:r>
              <a:rPr lang="en-US" altLang="zh-CN" i="1" dirty="0">
                <a:latin typeface="Arial" panose="020B0604020202020204" pitchFamily="34" charset="0"/>
                <a:cs typeface="Arial" panose="020B0604020202020204" pitchFamily="34" charset="0"/>
              </a:rPr>
              <a:t>Waseda University, Japan</a:t>
            </a:r>
          </a:p>
        </p:txBody>
      </p:sp>
      <p:sp>
        <p:nvSpPr>
          <p:cNvPr id="20" name="MainTitle"/>
          <p:cNvSpPr txBox="1"/>
          <p:nvPr/>
        </p:nvSpPr>
        <p:spPr>
          <a:xfrm>
            <a:off x="812035" y="2069978"/>
            <a:ext cx="10000000" cy="954107"/>
          </a:xfrm>
          <a:prstGeom prst="rect">
            <a:avLst/>
          </a:prstGeom>
          <a:noFill/>
          <a:ln>
            <a:noFill/>
          </a:ln>
        </p:spPr>
        <p:txBody>
          <a:bodyPr wrap="square" anchor="ctr">
            <a:spAutoFit/>
          </a:bodyPr>
          <a:lstStyle/>
          <a:p>
            <a:pPr algn="ctr"/>
            <a:r>
              <a:rPr lang="zh-CN" altLang="en-US" sz="5600" b="1" dirty="0">
                <a:solidFill>
                  <a:srgbClr val="2C2C2C"/>
                </a:solidFill>
              </a:rPr>
              <a:t>金融</a:t>
            </a:r>
            <a:r>
              <a:rPr lang="en-US" altLang="zh-CN" sz="5600" b="1" dirty="0">
                <a:solidFill>
                  <a:srgbClr val="2C2C2C"/>
                </a:solidFill>
              </a:rPr>
              <a:t>LLM</a:t>
            </a:r>
            <a:r>
              <a:rPr lang="zh-CN" altLang="en-US" sz="5600" b="1" dirty="0">
                <a:solidFill>
                  <a:srgbClr val="2C2C2C"/>
                </a:solidFill>
              </a:rPr>
              <a:t> </a:t>
            </a:r>
            <a:r>
              <a:rPr lang="en-US" altLang="zh-CN" sz="5600" b="1" dirty="0">
                <a:solidFill>
                  <a:srgbClr val="2C2C2C"/>
                </a:solidFill>
              </a:rPr>
              <a:t>Agent</a:t>
            </a:r>
            <a:r>
              <a:rPr lang="zh-CN" altLang="en-US" sz="5600" b="1" dirty="0">
                <a:solidFill>
                  <a:srgbClr val="2C2C2C"/>
                </a:solidFill>
              </a:rPr>
              <a:t>安全模型</a:t>
            </a:r>
          </a:p>
        </p:txBody>
      </p:sp>
      <p:sp>
        <p:nvSpPr>
          <p:cNvPr id="21" name="SubTitle"/>
          <p:cNvSpPr txBox="1"/>
          <p:nvPr/>
        </p:nvSpPr>
        <p:spPr>
          <a:xfrm>
            <a:off x="1000000" y="3261009"/>
            <a:ext cx="10000000" cy="523220"/>
          </a:xfrm>
          <a:prstGeom prst="rect">
            <a:avLst/>
          </a:prstGeom>
          <a:noFill/>
          <a:ln>
            <a:noFill/>
          </a:ln>
        </p:spPr>
        <p:txBody>
          <a:bodyPr wrap="square" anchor="ctr">
            <a:spAutoFit/>
          </a:bodyPr>
          <a:lstStyle/>
          <a:p>
            <a:pPr algn="ctr"/>
            <a:r>
              <a:rPr lang="zh-CN" altLang="en-US" sz="2800" i="1" dirty="0">
                <a:solidFill>
                  <a:srgbClr val="8E1728"/>
                </a:solidFill>
              </a:rPr>
              <a:t>安全防御与架构设计</a:t>
            </a:r>
          </a:p>
        </p:txBody>
      </p:sp>
      <p:sp>
        <p:nvSpPr>
          <p:cNvPr id="22" name="TitleLine"/>
          <p:cNvSpPr/>
          <p:nvPr/>
        </p:nvSpPr>
        <p:spPr>
          <a:xfrm>
            <a:off x="2500000" y="3850000"/>
            <a:ext cx="7000000" cy="16000"/>
          </a:xfrm>
          <a:prstGeom prst="rect">
            <a:avLst/>
          </a:prstGeom>
          <a:solidFill>
            <a:srgbClr val="8E1728"/>
          </a:solidFill>
          <a:ln>
            <a:noFill/>
          </a:ln>
        </p:spPr>
        <p:txBody>
          <a:bodyPr/>
          <a:lstStyle/>
          <a:p>
            <a:endParaRPr/>
          </a:p>
        </p:txBody>
      </p:sp>
      <p:sp>
        <p:nvSpPr>
          <p:cNvPr id="23" name="ProjBadges"/>
          <p:cNvSpPr txBox="1"/>
          <p:nvPr/>
        </p:nvSpPr>
        <p:spPr>
          <a:xfrm>
            <a:off x="600000" y="3980723"/>
            <a:ext cx="10800000" cy="338554"/>
          </a:xfrm>
          <a:prstGeom prst="rect">
            <a:avLst/>
          </a:prstGeom>
          <a:noFill/>
          <a:ln>
            <a:noFill/>
          </a:ln>
        </p:spPr>
        <p:txBody>
          <a:bodyPr wrap="square" anchor="ctr">
            <a:spAutoFit/>
          </a:bodyPr>
          <a:lstStyle/>
          <a:p>
            <a:pPr algn="ctr"/>
            <a:r>
              <a:rPr lang="en-US" altLang="zh-CN" sz="1600" dirty="0" err="1">
                <a:solidFill>
                  <a:srgbClr val="555555"/>
                </a:solidFill>
                <a:latin typeface="Arial" pitchFamily="34" charset="0"/>
              </a:rPr>
              <a:t>FinSec</a:t>
            </a:r>
            <a:r>
              <a:rPr lang="zh-CN" altLang="en-US" sz="1600" dirty="0">
                <a:solidFill>
                  <a:srgbClr val="555555"/>
                </a:solidFill>
                <a:latin typeface="Arial" pitchFamily="34" charset="0"/>
              </a:rPr>
              <a:t> </a:t>
            </a:r>
            <a:r>
              <a:rPr lang="en-US" altLang="zh-CN" sz="1600" dirty="0">
                <a:solidFill>
                  <a:srgbClr val="555555"/>
                </a:solidFill>
                <a:latin typeface="Arial" pitchFamily="34" charset="0"/>
              </a:rPr>
              <a:t> |   Security Valve (IEEE </a:t>
            </a:r>
            <a:r>
              <a:rPr lang="en-US" altLang="zh-CN" sz="1600" dirty="0" err="1">
                <a:solidFill>
                  <a:srgbClr val="555555"/>
                </a:solidFill>
                <a:latin typeface="Arial" pitchFamily="34" charset="0"/>
              </a:rPr>
              <a:t>GlobeCom</a:t>
            </a:r>
            <a:r>
              <a:rPr lang="en-US" altLang="zh-CN" sz="1600" dirty="0">
                <a:solidFill>
                  <a:srgbClr val="555555"/>
                </a:solidFill>
                <a:latin typeface="Arial" pitchFamily="34" charset="0"/>
              </a:rPr>
              <a:t>)</a:t>
            </a:r>
            <a:r>
              <a:rPr lang="zh-CN" altLang="en-US" sz="1600" dirty="0">
                <a:solidFill>
                  <a:srgbClr val="555555"/>
                </a:solidFill>
                <a:latin typeface="Arial" pitchFamily="34" charset="0"/>
              </a:rPr>
              <a:t> </a:t>
            </a:r>
            <a:r>
              <a:rPr lang="en-US" altLang="zh-CN" sz="1600" dirty="0">
                <a:solidFill>
                  <a:srgbClr val="555555"/>
                </a:solidFill>
                <a:latin typeface="Arial" pitchFamily="34" charset="0"/>
              </a:rPr>
              <a:t> |   VirInsight (IEEE TCE)</a:t>
            </a:r>
          </a:p>
        </p:txBody>
      </p:sp>
      <p:sp>
        <p:nvSpPr>
          <p:cNvPr id="2" name="文本框 1">
            <a:extLst>
              <a:ext uri="{FF2B5EF4-FFF2-40B4-BE49-F238E27FC236}">
                <a16:creationId xmlns:a16="http://schemas.microsoft.com/office/drawing/2014/main" id="{14E85166-4184-8252-47F3-18B602D87998}"/>
              </a:ext>
            </a:extLst>
          </p:cNvPr>
          <p:cNvSpPr txBox="1"/>
          <p:nvPr/>
        </p:nvSpPr>
        <p:spPr>
          <a:xfrm>
            <a:off x="5589222" y="4960149"/>
            <a:ext cx="1107996" cy="461665"/>
          </a:xfrm>
          <a:prstGeom prst="rect">
            <a:avLst/>
          </a:prstGeom>
          <a:noFill/>
        </p:spPr>
        <p:txBody>
          <a:bodyPr wrap="none" rtlCol="0">
            <a:spAutoFit/>
          </a:bodyPr>
          <a:lstStyle/>
          <a:p>
            <a:r>
              <a:rPr kumimoji="1" lang="zh-CN" altLang="en-US" sz="2400" dirty="0"/>
              <a:t>姜晓彤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12192000" cy="670308"/>
          </a:xfrm>
          <a:prstGeom prst="rect">
            <a:avLst/>
          </a:prstGeom>
          <a:solidFill>
            <a:srgbClr val="8E1728"/>
          </a:solidFill>
          <a:ln>
            <a:noFill/>
          </a:ln>
        </p:spPr>
        <p:txBody>
          <a:bodyPr rtlCol="0" anchor="ctr"/>
          <a:lstStyle/>
          <a:p>
            <a:pPr algn="ctr"/>
            <a:endParaRPr lang="zh-CN" altLang="en-US" dirty="0"/>
          </a:p>
        </p:txBody>
      </p:sp>
      <p:sp>
        <p:nvSpPr>
          <p:cNvPr id="10" name="SlideTitle"/>
          <p:cNvSpPr txBox="1"/>
          <p:nvPr/>
        </p:nvSpPr>
        <p:spPr>
          <a:xfrm>
            <a:off x="185700" y="77328"/>
            <a:ext cx="11592000" cy="523220"/>
          </a:xfrm>
          <a:prstGeom prst="rect">
            <a:avLst/>
          </a:prstGeom>
          <a:noFill/>
          <a:ln>
            <a:noFill/>
          </a:ln>
        </p:spPr>
        <p:txBody>
          <a:bodyPr wrap="square" anchor="t">
            <a:spAutoFit/>
          </a:bodyPr>
          <a:lstStyle/>
          <a:p>
            <a:pPr algn="l">
              <a:spcAft>
                <a:spcPts val="100"/>
              </a:spcAft>
            </a:pPr>
            <a:r>
              <a:rPr lang="zh-CN" altLang="en-US" sz="2800" b="1" dirty="0">
                <a:solidFill>
                  <a:schemeClr val="bg1"/>
                </a:solidFill>
              </a:rPr>
              <a:t>为什么金融 AI </a:t>
            </a:r>
            <a:r>
              <a:rPr lang="en-US" altLang="zh-CN" sz="2800" b="1" dirty="0">
                <a:solidFill>
                  <a:schemeClr val="bg1"/>
                </a:solidFill>
              </a:rPr>
              <a:t>Agents</a:t>
            </a:r>
            <a:r>
              <a:rPr lang="zh-CN" altLang="en-US" sz="2800" b="1" dirty="0">
                <a:solidFill>
                  <a:schemeClr val="bg1"/>
                </a:solidFill>
              </a:rPr>
              <a:t>需要专项防御？</a:t>
            </a:r>
          </a:p>
        </p:txBody>
      </p:sp>
      <p:sp>
        <p:nvSpPr>
          <p:cNvPr id="20" name="PainAccent0"/>
          <p:cNvSpPr txBox="1"/>
          <p:nvPr/>
        </p:nvSpPr>
        <p:spPr>
          <a:xfrm>
            <a:off x="414300" y="1215662"/>
            <a:ext cx="60000" cy="1500000"/>
          </a:xfrm>
          <a:prstGeom prst="rect">
            <a:avLst/>
          </a:prstGeom>
          <a:solidFill>
            <a:srgbClr val="8E1728"/>
          </a:solidFill>
          <a:ln>
            <a:noFill/>
          </a:ln>
        </p:spPr>
        <p:txBody>
          <a:bodyPr/>
          <a:lstStyle/>
          <a:p>
            <a:endParaRPr lang="zh-CN" altLang="en-US"/>
          </a:p>
        </p:txBody>
      </p:sp>
      <p:sp>
        <p:nvSpPr>
          <p:cNvPr id="21" name="PainCard0"/>
          <p:cNvSpPr txBox="1"/>
          <p:nvPr/>
        </p:nvSpPr>
        <p:spPr>
          <a:xfrm>
            <a:off x="494300" y="1215662"/>
            <a:ext cx="4920000" cy="1500000"/>
          </a:xfrm>
          <a:prstGeom prst="rect">
            <a:avLst/>
          </a:prstGeom>
          <a:solidFill>
            <a:srgbClr val="F8F2F2"/>
          </a:solidFill>
          <a:ln w="9525">
            <a:solidFill>
              <a:srgbClr val="E0D0D0"/>
            </a:solidFill>
          </a:ln>
        </p:spPr>
        <p:txBody>
          <a:bodyPr wrap="square" anchor="t">
            <a:spAutoFit/>
          </a:bodyPr>
          <a:lstStyle/>
          <a:p>
            <a:pPr algn="l">
              <a:spcAft>
                <a:spcPts val="80"/>
              </a:spcAft>
            </a:pPr>
            <a:r>
              <a:rPr lang="zh-CN" altLang="en-US" sz="1800" b="1" dirty="0">
                <a:solidFill>
                  <a:srgbClr val="8E1728"/>
                </a:solidFill>
              </a:rPr>
              <a:t>多轮拆解攻击</a:t>
            </a:r>
          </a:p>
          <a:p>
            <a:pPr algn="l"/>
            <a:r>
              <a:rPr lang="zh-CN" altLang="en-US" sz="1400" dirty="0">
                <a:solidFill>
                  <a:srgbClr val="333333"/>
                </a:solidFill>
              </a:rPr>
              <a:t>用户将危险意图拆分至多轮对话，单轮检测无法识别累积风险，最终绕过合规审查</a:t>
            </a:r>
          </a:p>
        </p:txBody>
      </p:sp>
      <p:sp>
        <p:nvSpPr>
          <p:cNvPr id="23" name="PainAccent1"/>
          <p:cNvSpPr txBox="1"/>
          <p:nvPr/>
        </p:nvSpPr>
        <p:spPr>
          <a:xfrm>
            <a:off x="414300" y="2815662"/>
            <a:ext cx="60000" cy="1500000"/>
          </a:xfrm>
          <a:prstGeom prst="rect">
            <a:avLst/>
          </a:prstGeom>
          <a:solidFill>
            <a:srgbClr val="8E1728"/>
          </a:solidFill>
          <a:ln>
            <a:noFill/>
          </a:ln>
        </p:spPr>
        <p:txBody>
          <a:bodyPr/>
          <a:lstStyle/>
          <a:p>
            <a:endParaRPr lang="zh-CN" altLang="en-US"/>
          </a:p>
        </p:txBody>
      </p:sp>
      <p:sp>
        <p:nvSpPr>
          <p:cNvPr id="24" name="PainCard1"/>
          <p:cNvSpPr txBox="1"/>
          <p:nvPr/>
        </p:nvSpPr>
        <p:spPr>
          <a:xfrm>
            <a:off x="494300" y="2815662"/>
            <a:ext cx="4920000" cy="1500000"/>
          </a:xfrm>
          <a:prstGeom prst="rect">
            <a:avLst/>
          </a:prstGeom>
          <a:solidFill>
            <a:srgbClr val="F8F2F2"/>
          </a:solidFill>
          <a:ln w="9525">
            <a:solidFill>
              <a:srgbClr val="E0D0D0"/>
            </a:solidFill>
          </a:ln>
        </p:spPr>
        <p:txBody>
          <a:bodyPr wrap="square" anchor="t">
            <a:spAutoFit/>
          </a:bodyPr>
          <a:lstStyle/>
          <a:p>
            <a:pPr algn="l">
              <a:spcAft>
                <a:spcPts val="80"/>
              </a:spcAft>
            </a:pPr>
            <a:r>
              <a:rPr lang="zh-CN" altLang="en-US" sz="1800" b="1" dirty="0">
                <a:solidFill>
                  <a:srgbClr val="8E1728"/>
                </a:solidFill>
              </a:rPr>
              <a:t>间接提示词注入</a:t>
            </a:r>
          </a:p>
          <a:p>
            <a:pPr algn="l"/>
            <a:r>
              <a:rPr lang="zh-CN" altLang="en-US" sz="1400" dirty="0">
                <a:solidFill>
                  <a:srgbClr val="333333"/>
                </a:solidFill>
              </a:rPr>
              <a:t>攻击者将恶意指令嵌入工具返回值（如交易记录备注），代理将其视为可信上下文并执行</a:t>
            </a:r>
          </a:p>
        </p:txBody>
      </p:sp>
      <p:sp>
        <p:nvSpPr>
          <p:cNvPr id="26" name="PainAccent2"/>
          <p:cNvSpPr txBox="1"/>
          <p:nvPr/>
        </p:nvSpPr>
        <p:spPr>
          <a:xfrm>
            <a:off x="414300" y="4415662"/>
            <a:ext cx="60000" cy="1500000"/>
          </a:xfrm>
          <a:prstGeom prst="rect">
            <a:avLst/>
          </a:prstGeom>
          <a:solidFill>
            <a:srgbClr val="8E1728"/>
          </a:solidFill>
          <a:ln>
            <a:noFill/>
          </a:ln>
        </p:spPr>
        <p:txBody>
          <a:bodyPr/>
          <a:lstStyle/>
          <a:p>
            <a:endParaRPr lang="zh-CN" altLang="en-US"/>
          </a:p>
        </p:txBody>
      </p:sp>
      <p:sp>
        <p:nvSpPr>
          <p:cNvPr id="27" name="PainCard2"/>
          <p:cNvSpPr txBox="1"/>
          <p:nvPr/>
        </p:nvSpPr>
        <p:spPr>
          <a:xfrm>
            <a:off x="494300" y="4415662"/>
            <a:ext cx="4920000" cy="1500000"/>
          </a:xfrm>
          <a:prstGeom prst="rect">
            <a:avLst/>
          </a:prstGeom>
          <a:solidFill>
            <a:srgbClr val="F8F2F2"/>
          </a:solidFill>
          <a:ln w="9525">
            <a:solidFill>
              <a:srgbClr val="E0D0D0"/>
            </a:solidFill>
          </a:ln>
        </p:spPr>
        <p:txBody>
          <a:bodyPr wrap="square" anchor="t">
            <a:spAutoFit/>
          </a:bodyPr>
          <a:lstStyle/>
          <a:p>
            <a:pPr algn="l">
              <a:spcAft>
                <a:spcPts val="80"/>
              </a:spcAft>
            </a:pPr>
            <a:r>
              <a:rPr lang="zh-CN" altLang="en-US" sz="1800" b="1" dirty="0">
                <a:solidFill>
                  <a:srgbClr val="8E1728"/>
                </a:solidFill>
              </a:rPr>
              <a:t>语义通道劫持</a:t>
            </a:r>
          </a:p>
          <a:p>
            <a:pPr algn="l"/>
            <a:r>
              <a:rPr lang="zh-CN" altLang="en-US" sz="1400" dirty="0">
                <a:solidFill>
                  <a:srgbClr val="333333"/>
                </a:solidFill>
              </a:rPr>
              <a:t>AI原生网络中，代理通过自然语言协作，语义一旦被污染即引发全链路级联失控</a:t>
            </a:r>
          </a:p>
        </p:txBody>
      </p:sp>
      <p:sp>
        <p:nvSpPr>
          <p:cNvPr id="40" name="SolHeader"/>
          <p:cNvSpPr txBox="1"/>
          <p:nvPr/>
        </p:nvSpPr>
        <p:spPr>
          <a:xfrm>
            <a:off x="5714300" y="1215662"/>
            <a:ext cx="6292000" cy="400110"/>
          </a:xfrm>
          <a:prstGeom prst="rect">
            <a:avLst/>
          </a:prstGeom>
          <a:solidFill>
            <a:srgbClr val="8E1728"/>
          </a:solidFill>
          <a:ln>
            <a:noFill/>
          </a:ln>
        </p:spPr>
        <p:txBody>
          <a:bodyPr wrap="square" anchor="t">
            <a:spAutoFit/>
          </a:bodyPr>
          <a:lstStyle/>
          <a:p>
            <a:pPr algn="ctr">
              <a:spcAft>
                <a:spcPts val="100"/>
              </a:spcAft>
            </a:pPr>
            <a:r>
              <a:rPr lang="zh-CN" altLang="en-US" sz="2000" b="1">
                <a:solidFill>
                  <a:srgbClr val="FFFFFF"/>
                </a:solidFill>
              </a:rPr>
              <a:t>研究</a:t>
            </a:r>
            <a:r>
              <a:rPr lang="zh-CN" altLang="en-US" sz="2000" b="1" dirty="0">
                <a:solidFill>
                  <a:srgbClr val="FFFFFF"/>
                </a:solidFill>
              </a:rPr>
              <a:t>路径</a:t>
            </a:r>
          </a:p>
        </p:txBody>
      </p:sp>
      <p:sp>
        <p:nvSpPr>
          <p:cNvPr id="41" name="SolFinSec"/>
          <p:cNvSpPr txBox="1"/>
          <p:nvPr/>
        </p:nvSpPr>
        <p:spPr>
          <a:xfrm>
            <a:off x="5714300" y="1545662"/>
            <a:ext cx="6292000" cy="1667123"/>
          </a:xfrm>
          <a:prstGeom prst="rect">
            <a:avLst/>
          </a:prstGeom>
          <a:solidFill>
            <a:srgbClr val="FDF5F5"/>
          </a:solidFill>
          <a:ln w="12700">
            <a:solidFill>
              <a:srgbClr val="C8A8A8"/>
            </a:solidFill>
          </a:ln>
        </p:spPr>
        <p:txBody>
          <a:bodyPr wrap="square" anchor="t">
            <a:spAutoFit/>
          </a:bodyPr>
          <a:lstStyle/>
          <a:p>
            <a:pPr algn="l">
              <a:spcAft>
                <a:spcPts val="80"/>
              </a:spcAft>
            </a:pPr>
            <a:r>
              <a:rPr lang="zh-CN" altLang="en-US" sz="1800" b="1" dirty="0">
                <a:solidFill>
                  <a:srgbClr val="8E1728"/>
                </a:solidFill>
              </a:rPr>
              <a:t>FinSec — 建立检测能力</a:t>
            </a:r>
            <a:endParaRPr lang="en-US" altLang="zh-CN" sz="1800" b="1" dirty="0">
              <a:solidFill>
                <a:srgbClr val="8E1728"/>
              </a:solidFill>
            </a:endParaRPr>
          </a:p>
          <a:p>
            <a:pPr algn="l">
              <a:spcAft>
                <a:spcPts val="80"/>
              </a:spcAft>
            </a:pPr>
            <a:r>
              <a:rPr lang="zh-CN" altLang="en-US" sz="1400" dirty="0">
                <a:solidFill>
                  <a:srgbClr val="444444"/>
                </a:solidFill>
              </a:rPr>
              <a:t>全局视角 · 四层多阶段架构</a:t>
            </a:r>
            <a:endParaRPr lang="en-US" altLang="zh-CN" sz="1400" dirty="0">
              <a:solidFill>
                <a:srgbClr val="444444"/>
              </a:solidFill>
            </a:endParaRPr>
          </a:p>
          <a:p>
            <a:pPr>
              <a:spcAft>
                <a:spcPts val="60"/>
              </a:spcAft>
            </a:pPr>
            <a:r>
              <a:rPr lang="zh-CN" altLang="en-US" sz="1400" dirty="0">
                <a:solidFill>
                  <a:srgbClr val="444444"/>
                </a:solidFill>
              </a:rPr>
              <a:t>针对多轮累积风险与延迟攻击，构建四层闭环检测框架</a:t>
            </a:r>
          </a:p>
          <a:p>
            <a:pPr algn="l">
              <a:spcAft>
                <a:spcPts val="60"/>
              </a:spcAft>
            </a:pPr>
            <a:r>
              <a:rPr lang="zh-CN" altLang="en-US" sz="1300" dirty="0">
                <a:solidFill>
                  <a:srgbClr val="444444"/>
                </a:solidFill>
              </a:rPr>
              <a:t>AML/SAR规则 + LLM语义分析 + 对抗推演</a:t>
            </a:r>
          </a:p>
          <a:p>
            <a:pPr algn="l"/>
            <a:r>
              <a:rPr lang="en-US" altLang="zh-CN" sz="1300" b="1" dirty="0">
                <a:solidFill>
                  <a:srgbClr val="8E1728"/>
                </a:solidFill>
                <a:latin typeface="Arial" pitchFamily="34" charset="0"/>
              </a:rPr>
              <a:t>F1: 90.13%  |  ASR↓ 9.09%  |  </a:t>
            </a:r>
            <a:r>
              <a:rPr lang="en-US" altLang="zh-CN" sz="1300" b="1" dirty="0" err="1">
                <a:solidFill>
                  <a:srgbClr val="8E1728"/>
                </a:solidFill>
                <a:latin typeface="Arial" pitchFamily="34" charset="0"/>
              </a:rPr>
              <a:t>综合分</a:t>
            </a:r>
            <a:r>
              <a:rPr lang="en-US" altLang="zh-CN" sz="1300" b="1" dirty="0">
                <a:solidFill>
                  <a:srgbClr val="8E1728"/>
                </a:solidFill>
                <a:latin typeface="Arial" pitchFamily="34" charset="0"/>
              </a:rPr>
              <a:t> 0.909</a:t>
            </a:r>
          </a:p>
          <a:p>
            <a:pPr algn="l"/>
            <a:endParaRPr lang="en-US" altLang="zh-CN" sz="1300" b="1" dirty="0">
              <a:solidFill>
                <a:srgbClr val="8E1728"/>
              </a:solidFill>
              <a:latin typeface="Arial" pitchFamily="34" charset="0"/>
            </a:endParaRPr>
          </a:p>
          <a:p>
            <a:r>
              <a:rPr lang="zh-CN" altLang="zh-CN" sz="1400" dirty="0"/>
              <a:t>作为旁路检测器，存在结构性缺口：</a:t>
            </a:r>
            <a:r>
              <a:rPr lang="zh-CN" altLang="zh-CN" sz="1400" b="1" dirty="0"/>
              <a:t>检测到风险 ≠ 阻止了风险</a:t>
            </a:r>
            <a:endParaRPr lang="en-US" altLang="zh-CN" sz="1300" b="1" dirty="0">
              <a:solidFill>
                <a:srgbClr val="8E1728"/>
              </a:solidFill>
              <a:latin typeface="Arial" pitchFamily="34" charset="0"/>
            </a:endParaRPr>
          </a:p>
        </p:txBody>
      </p:sp>
      <p:sp>
        <p:nvSpPr>
          <p:cNvPr id="42" name="SolSV"/>
          <p:cNvSpPr txBox="1"/>
          <p:nvPr/>
        </p:nvSpPr>
        <p:spPr>
          <a:xfrm>
            <a:off x="5714300" y="3936438"/>
            <a:ext cx="6292000" cy="1667123"/>
          </a:xfrm>
          <a:prstGeom prst="rect">
            <a:avLst/>
          </a:prstGeom>
          <a:solidFill>
            <a:srgbClr val="FDF5F5"/>
          </a:solidFill>
          <a:ln w="12700">
            <a:solidFill>
              <a:srgbClr val="C8A8A8"/>
            </a:solidFill>
          </a:ln>
        </p:spPr>
        <p:txBody>
          <a:bodyPr wrap="square" anchor="t">
            <a:spAutoFit/>
          </a:bodyPr>
          <a:lstStyle/>
          <a:p>
            <a:pPr algn="l">
              <a:spcAft>
                <a:spcPts val="80"/>
              </a:spcAft>
            </a:pPr>
            <a:r>
              <a:rPr lang="zh-CN" altLang="en-US" sz="1800" b="1" dirty="0">
                <a:solidFill>
                  <a:srgbClr val="8E1728"/>
                </a:solidFill>
              </a:rPr>
              <a:t>Security Valve —从检测到强制阻断</a:t>
            </a:r>
            <a:endParaRPr lang="en-US" altLang="zh-CN" sz="1800" b="1" dirty="0">
              <a:solidFill>
                <a:srgbClr val="8E1728"/>
              </a:solidFill>
            </a:endParaRPr>
          </a:p>
          <a:p>
            <a:pPr>
              <a:spcAft>
                <a:spcPts val="80"/>
              </a:spcAft>
            </a:pPr>
            <a:r>
              <a:rPr lang="zh-CN" altLang="en-US" sz="1400" dirty="0">
                <a:solidFill>
                  <a:srgbClr val="444444"/>
                </a:solidFill>
              </a:rPr>
              <a:t>将防御机制从旁路嵌入管道，在执行前实施物理级硬阻断</a:t>
            </a:r>
            <a:endParaRPr lang="en-US" altLang="zh-CN" sz="1400" dirty="0">
              <a:solidFill>
                <a:srgbClr val="444444"/>
              </a:solidFill>
            </a:endParaRPr>
          </a:p>
          <a:p>
            <a:pPr algn="l">
              <a:spcAft>
                <a:spcPts val="80"/>
              </a:spcAft>
            </a:pPr>
            <a:r>
              <a:rPr lang="zh-CN" altLang="en-US" sz="1400" dirty="0">
                <a:solidFill>
                  <a:srgbClr val="444444"/>
                </a:solidFill>
              </a:rPr>
              <a:t>执行前物理硬阻断 · 嵌入式语义检查点</a:t>
            </a:r>
          </a:p>
          <a:p>
            <a:pPr algn="l">
              <a:spcAft>
                <a:spcPts val="60"/>
              </a:spcAft>
            </a:pPr>
            <a:r>
              <a:rPr lang="zh-CN" altLang="en-US" sz="1300" dirty="0">
                <a:solidFill>
                  <a:srgbClr val="444444"/>
                </a:solidFill>
              </a:rPr>
              <a:t>双层决策：SAR规则层 + LLM语义层</a:t>
            </a:r>
          </a:p>
          <a:p>
            <a:pPr algn="l"/>
            <a:r>
              <a:rPr lang="en-US" altLang="zh-CN" sz="1300" b="1" dirty="0">
                <a:solidFill>
                  <a:srgbClr val="8E1728"/>
                </a:solidFill>
                <a:latin typeface="Arial" pitchFamily="34" charset="0"/>
              </a:rPr>
              <a:t>DER: 0%  |  FRR: 0%  |  T*SU = 1.000</a:t>
            </a:r>
          </a:p>
          <a:p>
            <a:pPr algn="l"/>
            <a:endParaRPr lang="en-US" altLang="zh-CN" sz="1300" b="1" dirty="0">
              <a:solidFill>
                <a:srgbClr val="8E1728"/>
              </a:solidFill>
              <a:latin typeface="Arial" pitchFamily="34" charset="0"/>
            </a:endParaRPr>
          </a:p>
          <a:p>
            <a:r>
              <a:rPr lang="zh-CN" altLang="en-US" sz="1400" dirty="0">
                <a:solidFill>
                  <a:srgbClr val="444444"/>
                </a:solidFill>
              </a:rPr>
              <a:t>被拒请求时，输入对 </a:t>
            </a:r>
            <a:r>
              <a:rPr lang="en-US" altLang="zh-CN" sz="1400" dirty="0">
                <a:solidFill>
                  <a:srgbClr val="444444"/>
                </a:solidFill>
              </a:rPr>
              <a:t>Finance Agent </a:t>
            </a:r>
            <a:r>
              <a:rPr lang="zh-CN" altLang="en-US" sz="1400" b="1" dirty="0">
                <a:solidFill>
                  <a:srgbClr val="444444"/>
                </a:solidFill>
              </a:rPr>
              <a:t>完全不可见</a:t>
            </a:r>
            <a:endParaRPr lang="en-US" altLang="zh-CN" sz="1400" b="1" dirty="0">
              <a:solidFill>
                <a:srgbClr val="444444"/>
              </a:solidFill>
            </a:endParaRPr>
          </a:p>
        </p:txBody>
      </p:sp>
      <p:sp>
        <p:nvSpPr>
          <p:cNvPr id="43" name="SolNote"/>
          <p:cNvSpPr txBox="1"/>
          <p:nvPr/>
        </p:nvSpPr>
        <p:spPr>
          <a:xfrm>
            <a:off x="5714300" y="5775662"/>
            <a:ext cx="6292000" cy="307777"/>
          </a:xfrm>
          <a:prstGeom prst="rect">
            <a:avLst/>
          </a:prstGeom>
          <a:solidFill>
            <a:srgbClr val="F8F2F2"/>
          </a:solidFill>
          <a:ln w="9525">
            <a:solidFill>
              <a:srgbClr val="E0D0D0"/>
            </a:solidFill>
          </a:ln>
        </p:spPr>
        <p:txBody>
          <a:bodyPr wrap="square" anchor="t">
            <a:spAutoFit/>
          </a:bodyPr>
          <a:lstStyle/>
          <a:p>
            <a:pPr algn="ctr">
              <a:spcAft>
                <a:spcPts val="100"/>
              </a:spcAft>
            </a:pPr>
            <a:r>
              <a:rPr lang="zh-CN" altLang="en-US" sz="1400" i="1" dirty="0">
                <a:solidFill>
                  <a:srgbClr val="8E1728"/>
                </a:solidFill>
              </a:rPr>
              <a:t>两项研究共同构成从</a:t>
            </a:r>
            <a:r>
              <a:rPr lang="en-US" altLang="zh-CN" sz="1400" i="1" dirty="0">
                <a:solidFill>
                  <a:srgbClr val="8E1728"/>
                </a:solidFill>
              </a:rPr>
              <a:t>"</a:t>
            </a:r>
            <a:r>
              <a:rPr lang="zh-CN" altLang="en-US" sz="1400" i="1" dirty="0">
                <a:solidFill>
                  <a:srgbClr val="8E1728"/>
                </a:solidFill>
              </a:rPr>
              <a:t>尽力检测</a:t>
            </a:r>
            <a:r>
              <a:rPr lang="en-US" altLang="zh-CN" sz="1400" i="1" dirty="0">
                <a:solidFill>
                  <a:srgbClr val="8E1728"/>
                </a:solidFill>
              </a:rPr>
              <a:t>"</a:t>
            </a:r>
            <a:r>
              <a:rPr lang="zh-CN" altLang="en-US" sz="1400" i="1" dirty="0">
                <a:solidFill>
                  <a:srgbClr val="8E1728"/>
                </a:solidFill>
              </a:rPr>
              <a:t>到</a:t>
            </a:r>
            <a:r>
              <a:rPr lang="en-US" altLang="zh-CN" sz="1400" i="1" dirty="0">
                <a:solidFill>
                  <a:srgbClr val="8E1728"/>
                </a:solidFill>
              </a:rPr>
              <a:t>"</a:t>
            </a:r>
            <a:r>
              <a:rPr lang="zh-CN" altLang="en-US" sz="1400" i="1" dirty="0">
                <a:solidFill>
                  <a:srgbClr val="8E1728"/>
                </a:solidFill>
              </a:rPr>
              <a:t>强制保证</a:t>
            </a:r>
            <a:r>
              <a:rPr lang="en-US" altLang="zh-CN" sz="1400" i="1" dirty="0">
                <a:solidFill>
                  <a:srgbClr val="8E1728"/>
                </a:solidFill>
              </a:rPr>
              <a:t>"</a:t>
            </a:r>
            <a:r>
              <a:rPr lang="zh-CN" altLang="en-US" sz="1400" i="1" dirty="0">
                <a:solidFill>
                  <a:srgbClr val="8E1728"/>
                </a:solidFill>
              </a:rPr>
              <a:t>的完整防御升级</a:t>
            </a:r>
          </a:p>
        </p:txBody>
      </p:sp>
      <p:pic>
        <p:nvPicPr>
          <p:cNvPr id="4" name="Picture 2">
            <a:extLst>
              <a:ext uri="{FF2B5EF4-FFF2-40B4-BE49-F238E27FC236}">
                <a16:creationId xmlns:a16="http://schemas.microsoft.com/office/drawing/2014/main" id="{40A4E2E5-E55C-ACF3-A955-D09CBA954E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633"/>
          <a:stretch>
            <a:fillRect/>
          </a:stretch>
        </p:blipFill>
        <p:spPr bwMode="auto">
          <a:xfrm>
            <a:off x="11043556" y="0"/>
            <a:ext cx="1148442" cy="659568"/>
          </a:xfrm>
          <a:prstGeom prst="rect">
            <a:avLst/>
          </a:prstGeom>
          <a:noFill/>
          <a:extLst>
            <a:ext uri="{909E8E84-426E-40DD-AFC4-6F175D3DCCD1}">
              <a14:hiddenFill xmlns:a14="http://schemas.microsoft.com/office/drawing/2010/main">
                <a:solidFill>
                  <a:srgbClr val="FFFFFF"/>
                </a:solidFill>
              </a14:hiddenFill>
            </a:ext>
          </a:extLst>
        </p:spPr>
      </p:pic>
      <p:sp>
        <p:nvSpPr>
          <p:cNvPr id="5" name="下箭头 4">
            <a:extLst>
              <a:ext uri="{FF2B5EF4-FFF2-40B4-BE49-F238E27FC236}">
                <a16:creationId xmlns:a16="http://schemas.microsoft.com/office/drawing/2014/main" id="{2B43283A-1F0C-088D-989B-8C2D030CC711}"/>
              </a:ext>
            </a:extLst>
          </p:cNvPr>
          <p:cNvSpPr/>
          <p:nvPr/>
        </p:nvSpPr>
        <p:spPr>
          <a:xfrm>
            <a:off x="8439933" y="3339126"/>
            <a:ext cx="443345" cy="505455"/>
          </a:xfrm>
          <a:prstGeom prst="downArrow">
            <a:avLst/>
          </a:prstGeom>
          <a:solidFill>
            <a:srgbClr val="F6F0F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A974FFA6-8BEE-B11D-2C25-5949CF0277D4}"/>
              </a:ext>
            </a:extLst>
          </p:cNvPr>
          <p:cNvSpPr txBox="1"/>
          <p:nvPr/>
        </p:nvSpPr>
        <p:spPr>
          <a:xfrm>
            <a:off x="8860300" y="3444947"/>
            <a:ext cx="543739" cy="307777"/>
          </a:xfrm>
          <a:prstGeom prst="rect">
            <a:avLst/>
          </a:prstGeom>
          <a:noFill/>
        </p:spPr>
        <p:txBody>
          <a:bodyPr wrap="none" rtlCol="0">
            <a:spAutoFit/>
          </a:bodyPr>
          <a:lstStyle/>
          <a:p>
            <a:r>
              <a:rPr kumimoji="1" lang="zh-CN" altLang="en-US" sz="1400" b="1" dirty="0">
                <a:solidFill>
                  <a:srgbClr val="C00000"/>
                </a:solidFill>
              </a:rPr>
              <a:t>升级</a:t>
            </a:r>
          </a:p>
        </p:txBody>
      </p:sp>
      <p:sp>
        <p:nvSpPr>
          <p:cNvPr id="3" name="文本框 2">
            <a:extLst>
              <a:ext uri="{FF2B5EF4-FFF2-40B4-BE49-F238E27FC236}">
                <a16:creationId xmlns:a16="http://schemas.microsoft.com/office/drawing/2014/main" id="{30BB0538-DA5A-328A-4C33-BF0A52D256D4}"/>
              </a:ext>
            </a:extLst>
          </p:cNvPr>
          <p:cNvSpPr txBox="1"/>
          <p:nvPr/>
        </p:nvSpPr>
        <p:spPr>
          <a:xfrm flipH="1">
            <a:off x="11736136" y="6411340"/>
            <a:ext cx="270164" cy="369332"/>
          </a:xfrm>
          <a:prstGeom prst="rect">
            <a:avLst/>
          </a:prstGeom>
          <a:noFill/>
        </p:spPr>
        <p:txBody>
          <a:bodyPr wrap="square" rtlCol="0">
            <a:spAutoFit/>
          </a:bodyPr>
          <a:lstStyle/>
          <a:p>
            <a:r>
              <a:rPr kumimoji="1" lang="en-US" altLang="zh-CN" dirty="0"/>
              <a:t>1</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9F026-51F2-C196-FD13-B452ED3F568E}"/>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FC6C8EEA-6D4B-7478-7530-02A6667111C2}"/>
              </a:ext>
            </a:extLst>
          </p:cNvPr>
          <p:cNvSpPr/>
          <p:nvPr/>
        </p:nvSpPr>
        <p:spPr>
          <a:xfrm>
            <a:off x="0" y="0"/>
            <a:ext cx="12192000" cy="67030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Picture 2">
            <a:extLst>
              <a:ext uri="{FF2B5EF4-FFF2-40B4-BE49-F238E27FC236}">
                <a16:creationId xmlns:a16="http://schemas.microsoft.com/office/drawing/2014/main" id="{D14B5170-2B9A-3C02-2C95-82A6A79DE5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633"/>
          <a:stretch>
            <a:fillRect/>
          </a:stretch>
        </p:blipFill>
        <p:spPr bwMode="auto">
          <a:xfrm>
            <a:off x="11043558" y="0"/>
            <a:ext cx="1148442" cy="65956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564FE8E9-31A7-AFC7-3F77-A766308FA36F}"/>
              </a:ext>
            </a:extLst>
          </p:cNvPr>
          <p:cNvPicPr>
            <a:picLocks noChangeAspect="1"/>
          </p:cNvPicPr>
          <p:nvPr/>
        </p:nvPicPr>
        <p:blipFill>
          <a:blip r:embed="rId4"/>
          <a:stretch>
            <a:fillRect/>
          </a:stretch>
        </p:blipFill>
        <p:spPr>
          <a:xfrm>
            <a:off x="611061" y="744754"/>
            <a:ext cx="10638854" cy="4627384"/>
          </a:xfrm>
          <a:prstGeom prst="rect">
            <a:avLst/>
          </a:prstGeom>
        </p:spPr>
      </p:pic>
      <p:sp>
        <p:nvSpPr>
          <p:cNvPr id="8" name="文本框 7">
            <a:extLst>
              <a:ext uri="{FF2B5EF4-FFF2-40B4-BE49-F238E27FC236}">
                <a16:creationId xmlns:a16="http://schemas.microsoft.com/office/drawing/2014/main" id="{404BE72F-9841-5EEC-4D01-E7CF8ED87EE1}"/>
              </a:ext>
            </a:extLst>
          </p:cNvPr>
          <p:cNvSpPr txBox="1"/>
          <p:nvPr/>
        </p:nvSpPr>
        <p:spPr>
          <a:xfrm>
            <a:off x="185064" y="744754"/>
            <a:ext cx="1737976" cy="369332"/>
          </a:xfrm>
          <a:prstGeom prst="rect">
            <a:avLst/>
          </a:prstGeom>
          <a:noFill/>
        </p:spPr>
        <p:txBody>
          <a:bodyPr wrap="none" rtlCol="0">
            <a:spAutoFit/>
          </a:bodyPr>
          <a:lstStyle/>
          <a:p>
            <a:r>
              <a:rPr kumimoji="1" lang="en-US" altLang="zh-CN" dirty="0" err="1"/>
              <a:t>FinSec</a:t>
            </a:r>
            <a:r>
              <a:rPr kumimoji="1" lang="zh-CN" altLang="en-US" dirty="0"/>
              <a:t>基础架构</a:t>
            </a:r>
          </a:p>
        </p:txBody>
      </p:sp>
      <p:sp>
        <p:nvSpPr>
          <p:cNvPr id="12" name="文本框 11">
            <a:extLst>
              <a:ext uri="{FF2B5EF4-FFF2-40B4-BE49-F238E27FC236}">
                <a16:creationId xmlns:a16="http://schemas.microsoft.com/office/drawing/2014/main" id="{4843E364-DB01-803B-DA3B-7DDA34D075E8}"/>
              </a:ext>
            </a:extLst>
          </p:cNvPr>
          <p:cNvSpPr txBox="1"/>
          <p:nvPr/>
        </p:nvSpPr>
        <p:spPr>
          <a:xfrm>
            <a:off x="817418" y="5372138"/>
            <a:ext cx="10226140" cy="923330"/>
          </a:xfrm>
          <a:prstGeom prst="rect">
            <a:avLst/>
          </a:prstGeom>
          <a:noFill/>
        </p:spPr>
        <p:txBody>
          <a:bodyPr wrap="square" rtlCol="0">
            <a:spAutoFit/>
          </a:bodyPr>
          <a:lstStyle/>
          <a:p>
            <a:r>
              <a:rPr lang="zh-CN" altLang="en-US" dirty="0"/>
              <a:t>我做了什么：</a:t>
            </a:r>
            <a:endParaRPr lang="en-US" altLang="zh-CN" dirty="0"/>
          </a:p>
          <a:p>
            <a:r>
              <a:rPr lang="zh-CN" altLang="zh-CN" dirty="0"/>
              <a:t>针对金融代理对话中多轮累积风险和延迟攻击意图难以被静态单轮检测捕获的问题，构建了一个融合 AML/SAR 规则、对抗生成推演和 LLM 语义审计的四层闭环检测框架</a:t>
            </a:r>
            <a:endParaRPr kumimoji="1" lang="zh-CN" altLang="en-US" dirty="0"/>
          </a:p>
        </p:txBody>
      </p:sp>
      <p:sp>
        <p:nvSpPr>
          <p:cNvPr id="13" name="SlideTitle">
            <a:extLst>
              <a:ext uri="{FF2B5EF4-FFF2-40B4-BE49-F238E27FC236}">
                <a16:creationId xmlns:a16="http://schemas.microsoft.com/office/drawing/2014/main" id="{D20907BD-97E3-0BE1-3991-EB2382415338}"/>
              </a:ext>
            </a:extLst>
          </p:cNvPr>
          <p:cNvSpPr txBox="1"/>
          <p:nvPr/>
        </p:nvSpPr>
        <p:spPr>
          <a:xfrm>
            <a:off x="92000" y="74446"/>
            <a:ext cx="11592000" cy="523220"/>
          </a:xfrm>
          <a:prstGeom prst="rect">
            <a:avLst/>
          </a:prstGeom>
          <a:noFill/>
          <a:ln>
            <a:noFill/>
          </a:ln>
        </p:spPr>
        <p:txBody>
          <a:bodyPr wrap="square" anchor="t">
            <a:spAutoFit/>
          </a:bodyPr>
          <a:lstStyle/>
          <a:p>
            <a:pPr algn="l">
              <a:spcAft>
                <a:spcPts val="100"/>
              </a:spcAft>
            </a:pPr>
            <a:r>
              <a:rPr lang="zh-CN" altLang="en-US" sz="2800" b="1" dirty="0">
                <a:solidFill>
                  <a:schemeClr val="bg1"/>
                </a:solidFill>
              </a:rPr>
              <a:t>研究一 · FinSec：金融对话的智能安全判断</a:t>
            </a:r>
          </a:p>
        </p:txBody>
      </p:sp>
      <p:sp>
        <p:nvSpPr>
          <p:cNvPr id="2" name="文本框 1">
            <a:extLst>
              <a:ext uri="{FF2B5EF4-FFF2-40B4-BE49-F238E27FC236}">
                <a16:creationId xmlns:a16="http://schemas.microsoft.com/office/drawing/2014/main" id="{3F199B52-28D4-3C36-7660-7CF9DFFA65B6}"/>
              </a:ext>
            </a:extLst>
          </p:cNvPr>
          <p:cNvSpPr txBox="1"/>
          <p:nvPr/>
        </p:nvSpPr>
        <p:spPr>
          <a:xfrm flipH="1">
            <a:off x="11736136" y="6411340"/>
            <a:ext cx="270164" cy="369332"/>
          </a:xfrm>
          <a:prstGeom prst="rect">
            <a:avLst/>
          </a:prstGeom>
          <a:noFill/>
        </p:spPr>
        <p:txBody>
          <a:bodyPr wrap="square" rtlCol="0">
            <a:spAutoFit/>
          </a:bodyPr>
          <a:lstStyle/>
          <a:p>
            <a:r>
              <a:rPr kumimoji="1" lang="en-US" altLang="zh-CN" dirty="0"/>
              <a:t>2</a:t>
            </a:r>
            <a:endParaRPr kumimoji="1" lang="zh-CN" altLang="en-US" dirty="0"/>
          </a:p>
        </p:txBody>
      </p:sp>
    </p:spTree>
    <p:extLst>
      <p:ext uri="{BB962C8B-B14F-4D97-AF65-F5344CB8AC3E}">
        <p14:creationId xmlns:p14="http://schemas.microsoft.com/office/powerpoint/2010/main" val="3988428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12192000" cy="670308"/>
          </a:xfrm>
          <a:prstGeom prst="rect">
            <a:avLst/>
          </a:prstGeom>
          <a:solidFill>
            <a:srgbClr val="8E1728"/>
          </a:solidFill>
          <a:ln>
            <a:noFill/>
          </a:ln>
        </p:spPr>
        <p:txBody>
          <a:bodyPr rtlCol="0" anchor="ctr"/>
          <a:lstStyle/>
          <a:p>
            <a:pPr algn="ctr"/>
            <a:endParaRPr lang="zh-CN" altLang="en-US" dirty="0"/>
          </a:p>
        </p:txBody>
      </p:sp>
      <p:sp>
        <p:nvSpPr>
          <p:cNvPr id="10" name="SlideTitle"/>
          <p:cNvSpPr txBox="1"/>
          <p:nvPr/>
        </p:nvSpPr>
        <p:spPr>
          <a:xfrm>
            <a:off x="92000" y="74446"/>
            <a:ext cx="11592000" cy="523220"/>
          </a:xfrm>
          <a:prstGeom prst="rect">
            <a:avLst/>
          </a:prstGeom>
          <a:noFill/>
          <a:ln>
            <a:noFill/>
          </a:ln>
        </p:spPr>
        <p:txBody>
          <a:bodyPr wrap="square" anchor="t">
            <a:spAutoFit/>
          </a:bodyPr>
          <a:lstStyle/>
          <a:p>
            <a:pPr algn="l">
              <a:spcAft>
                <a:spcPts val="100"/>
              </a:spcAft>
            </a:pPr>
            <a:r>
              <a:rPr lang="zh-CN" altLang="en-US" sz="2800" b="1" dirty="0">
                <a:solidFill>
                  <a:schemeClr val="bg1"/>
                </a:solidFill>
              </a:rPr>
              <a:t>研究一 · FinSec：金融对话的智能安全判断</a:t>
            </a:r>
          </a:p>
        </p:txBody>
      </p:sp>
      <p:sp>
        <p:nvSpPr>
          <p:cNvPr id="31" name="L0Badge"/>
          <p:cNvSpPr txBox="1"/>
          <p:nvPr/>
        </p:nvSpPr>
        <p:spPr>
          <a:xfrm>
            <a:off x="198179" y="1012901"/>
            <a:ext cx="638000" cy="430887"/>
          </a:xfrm>
          <a:prstGeom prst="rect">
            <a:avLst/>
          </a:prstGeom>
          <a:solidFill>
            <a:srgbClr val="8E1728"/>
          </a:solidFill>
          <a:ln>
            <a:noFill/>
          </a:ln>
        </p:spPr>
        <p:txBody>
          <a:bodyPr wrap="square" anchor="t">
            <a:spAutoFit/>
          </a:bodyPr>
          <a:lstStyle/>
          <a:p>
            <a:pPr algn="ctr">
              <a:spcAft>
                <a:spcPts val="100"/>
              </a:spcAft>
            </a:pPr>
            <a:r>
              <a:rPr lang="en-US" altLang="zh-CN" sz="2200" b="1" dirty="0">
                <a:solidFill>
                  <a:srgbClr val="FFFFFF"/>
                </a:solidFill>
                <a:latin typeface="Arial" pitchFamily="34" charset="0"/>
              </a:rPr>
              <a:t>L1</a:t>
            </a:r>
          </a:p>
        </p:txBody>
      </p:sp>
      <p:sp>
        <p:nvSpPr>
          <p:cNvPr id="32" name="L0Content"/>
          <p:cNvSpPr txBox="1"/>
          <p:nvPr/>
        </p:nvSpPr>
        <p:spPr>
          <a:xfrm>
            <a:off x="846179" y="1012901"/>
            <a:ext cx="5310000" cy="736099"/>
          </a:xfrm>
          <a:prstGeom prst="rect">
            <a:avLst/>
          </a:prstGeom>
          <a:solidFill>
            <a:srgbClr val="F8F2F2"/>
          </a:solidFill>
          <a:ln w="9525">
            <a:solidFill>
              <a:srgbClr val="E0D0D0"/>
            </a:solidFill>
          </a:ln>
        </p:spPr>
        <p:txBody>
          <a:bodyPr wrap="square" anchor="t">
            <a:spAutoFit/>
          </a:bodyPr>
          <a:lstStyle/>
          <a:p>
            <a:pPr algn="l">
              <a:spcAft>
                <a:spcPts val="60"/>
              </a:spcAft>
            </a:pPr>
            <a:r>
              <a:rPr lang="zh-CN" altLang="en-US" sz="1600" b="1" dirty="0">
                <a:solidFill>
                  <a:srgbClr val="8E1728"/>
                </a:solidFill>
              </a:rPr>
              <a:t>SAR 可疑行为模式检测</a:t>
            </a:r>
          </a:p>
          <a:p>
            <a:pPr algn="l"/>
            <a:r>
              <a:rPr lang="zh-CN" altLang="en-US" sz="1250" dirty="0">
                <a:solidFill>
                  <a:srgbClr val="444444"/>
                </a:solidFill>
              </a:rPr>
              <a:t>基于 AML/SAR 规范的三重匹配（关键词 + 语义相似度 + 序列一致性），多轮滑动窗口提取跨对话可疑轨迹，生成高召回率基础风险信号</a:t>
            </a:r>
          </a:p>
        </p:txBody>
      </p:sp>
      <p:sp>
        <p:nvSpPr>
          <p:cNvPr id="34" name="L1Badge"/>
          <p:cNvSpPr txBox="1"/>
          <p:nvPr/>
        </p:nvSpPr>
        <p:spPr>
          <a:xfrm>
            <a:off x="6216179" y="1012901"/>
            <a:ext cx="570000" cy="430887"/>
          </a:xfrm>
          <a:prstGeom prst="rect">
            <a:avLst/>
          </a:prstGeom>
          <a:solidFill>
            <a:srgbClr val="A0522D"/>
          </a:solidFill>
          <a:ln>
            <a:noFill/>
          </a:ln>
        </p:spPr>
        <p:txBody>
          <a:bodyPr wrap="square" anchor="t">
            <a:spAutoFit/>
          </a:bodyPr>
          <a:lstStyle/>
          <a:p>
            <a:pPr algn="ctr">
              <a:spcAft>
                <a:spcPts val="100"/>
              </a:spcAft>
            </a:pPr>
            <a:r>
              <a:rPr lang="en-US" altLang="zh-CN" sz="2200" b="1" dirty="0">
                <a:solidFill>
                  <a:srgbClr val="FFFFFF"/>
                </a:solidFill>
                <a:latin typeface="Arial" pitchFamily="34" charset="0"/>
              </a:rPr>
              <a:t>L2</a:t>
            </a:r>
          </a:p>
        </p:txBody>
      </p:sp>
      <p:sp>
        <p:nvSpPr>
          <p:cNvPr id="35" name="L1Content"/>
          <p:cNvSpPr txBox="1"/>
          <p:nvPr/>
        </p:nvSpPr>
        <p:spPr>
          <a:xfrm>
            <a:off x="6796179" y="1012901"/>
            <a:ext cx="5310000" cy="736099"/>
          </a:xfrm>
          <a:prstGeom prst="rect">
            <a:avLst/>
          </a:prstGeom>
          <a:solidFill>
            <a:srgbClr val="F8F2F2"/>
          </a:solidFill>
          <a:ln w="9525">
            <a:solidFill>
              <a:srgbClr val="E0D0D0"/>
            </a:solidFill>
          </a:ln>
        </p:spPr>
        <p:txBody>
          <a:bodyPr wrap="square" anchor="t">
            <a:spAutoFit/>
          </a:bodyPr>
          <a:lstStyle/>
          <a:p>
            <a:pPr algn="l">
              <a:spcAft>
                <a:spcPts val="60"/>
              </a:spcAft>
            </a:pPr>
            <a:r>
              <a:rPr lang="zh-CN" altLang="en-US" sz="1600" b="1" dirty="0">
                <a:solidFill>
                  <a:srgbClr val="A0522D"/>
                </a:solidFill>
              </a:rPr>
              <a:t>延迟风险评估 + 对抗推演</a:t>
            </a:r>
          </a:p>
          <a:p>
            <a:r>
              <a:rPr lang="zh-CN" altLang="en-US" sz="1250" dirty="0">
                <a:solidFill>
                  <a:srgbClr val="444444"/>
                </a:solidFill>
              </a:rPr>
              <a:t>指数衰减风险传播模型；蒙特卡洛生成未来对话路径；防御者 / 攻击者 / 红队 三视角评估最坏情景风险 </a:t>
            </a:r>
            <a:r>
              <a:rPr lang="en" altLang="zh-CN" sz="1250" dirty="0">
                <a:solidFill>
                  <a:srgbClr val="444444"/>
                </a:solidFill>
              </a:rPr>
              <a:t>Deferred Risk</a:t>
            </a:r>
            <a:r>
              <a:rPr lang="zh-CN" altLang="en-US" sz="1250" dirty="0">
                <a:solidFill>
                  <a:srgbClr val="444444"/>
                </a:solidFill>
              </a:rPr>
              <a:t> </a:t>
            </a:r>
            <a:r>
              <a:rPr lang="en-US" altLang="zh-CN" sz="1250" dirty="0">
                <a:solidFill>
                  <a:srgbClr val="444444"/>
                </a:solidFill>
              </a:rPr>
              <a:t>Rollout</a:t>
            </a:r>
            <a:r>
              <a:rPr lang="zh-CN" altLang="en-US" sz="1250" dirty="0">
                <a:solidFill>
                  <a:srgbClr val="444444"/>
                </a:solidFill>
              </a:rPr>
              <a:t>（未来风险模拟得分）</a:t>
            </a:r>
          </a:p>
        </p:txBody>
      </p:sp>
      <p:sp>
        <p:nvSpPr>
          <p:cNvPr id="37" name="L2Badge"/>
          <p:cNvSpPr txBox="1"/>
          <p:nvPr/>
        </p:nvSpPr>
        <p:spPr>
          <a:xfrm>
            <a:off x="206179" y="2692901"/>
            <a:ext cx="630000" cy="430887"/>
          </a:xfrm>
          <a:prstGeom prst="rect">
            <a:avLst/>
          </a:prstGeom>
          <a:solidFill>
            <a:srgbClr val="6B3A3A"/>
          </a:solidFill>
          <a:ln>
            <a:noFill/>
          </a:ln>
        </p:spPr>
        <p:txBody>
          <a:bodyPr wrap="square" anchor="t">
            <a:spAutoFit/>
          </a:bodyPr>
          <a:lstStyle/>
          <a:p>
            <a:pPr algn="ctr">
              <a:spcAft>
                <a:spcPts val="100"/>
              </a:spcAft>
            </a:pPr>
            <a:r>
              <a:rPr lang="en-US" altLang="zh-CN" sz="2200" b="1" dirty="0">
                <a:solidFill>
                  <a:srgbClr val="FFFFFF"/>
                </a:solidFill>
                <a:latin typeface="Arial" pitchFamily="34" charset="0"/>
              </a:rPr>
              <a:t>L3</a:t>
            </a:r>
          </a:p>
        </p:txBody>
      </p:sp>
      <p:sp>
        <p:nvSpPr>
          <p:cNvPr id="38" name="L2Content"/>
          <p:cNvSpPr txBox="1"/>
          <p:nvPr/>
        </p:nvSpPr>
        <p:spPr>
          <a:xfrm>
            <a:off x="846179" y="2692901"/>
            <a:ext cx="5310000" cy="736099"/>
          </a:xfrm>
          <a:prstGeom prst="rect">
            <a:avLst/>
          </a:prstGeom>
          <a:solidFill>
            <a:srgbClr val="F8F2F2"/>
          </a:solidFill>
          <a:ln w="9525">
            <a:solidFill>
              <a:srgbClr val="E0D0D0"/>
            </a:solidFill>
          </a:ln>
        </p:spPr>
        <p:txBody>
          <a:bodyPr wrap="square" anchor="t">
            <a:spAutoFit/>
          </a:bodyPr>
          <a:lstStyle/>
          <a:p>
            <a:pPr algn="l">
              <a:spcAft>
                <a:spcPts val="60"/>
              </a:spcAft>
            </a:pPr>
            <a:r>
              <a:rPr lang="zh-CN" altLang="en-US" sz="1600" b="1" dirty="0">
                <a:solidFill>
                  <a:srgbClr val="6B3A3A"/>
                </a:solidFill>
              </a:rPr>
              <a:t>LLM 语义安全评估</a:t>
            </a:r>
          </a:p>
          <a:p>
            <a:pPr algn="l"/>
            <a:r>
              <a:rPr lang="zh-CN" altLang="en-US" sz="1250" dirty="0">
                <a:solidFill>
                  <a:srgbClr val="444444"/>
                </a:solidFill>
              </a:rPr>
              <a:t>O3 模型驱动，Few-shot CoT 推理；识别隐蔽诱导、意图伪装、多轮语义漂移等复杂攻击；输出 Safe / Unsafe 离散标签</a:t>
            </a:r>
          </a:p>
        </p:txBody>
      </p:sp>
      <p:sp>
        <p:nvSpPr>
          <p:cNvPr id="40" name="L3Badge"/>
          <p:cNvSpPr txBox="1"/>
          <p:nvPr/>
        </p:nvSpPr>
        <p:spPr>
          <a:xfrm>
            <a:off x="6216179" y="2692901"/>
            <a:ext cx="570000" cy="430887"/>
          </a:xfrm>
          <a:prstGeom prst="rect">
            <a:avLst/>
          </a:prstGeom>
          <a:solidFill>
            <a:srgbClr val="4A2525"/>
          </a:solidFill>
          <a:ln>
            <a:noFill/>
          </a:ln>
        </p:spPr>
        <p:txBody>
          <a:bodyPr wrap="square" anchor="t">
            <a:spAutoFit/>
          </a:bodyPr>
          <a:lstStyle/>
          <a:p>
            <a:pPr algn="ctr">
              <a:spcAft>
                <a:spcPts val="100"/>
              </a:spcAft>
            </a:pPr>
            <a:r>
              <a:rPr lang="en-US" altLang="zh-CN" sz="2200" b="1" dirty="0">
                <a:solidFill>
                  <a:srgbClr val="FFFFFF"/>
                </a:solidFill>
                <a:latin typeface="Arial" pitchFamily="34" charset="0"/>
              </a:rPr>
              <a:t>L4</a:t>
            </a:r>
          </a:p>
        </p:txBody>
      </p:sp>
      <p:sp>
        <p:nvSpPr>
          <p:cNvPr id="41" name="L3Content"/>
          <p:cNvSpPr txBox="1"/>
          <p:nvPr/>
        </p:nvSpPr>
        <p:spPr>
          <a:xfrm>
            <a:off x="6796179" y="2692901"/>
            <a:ext cx="5310000" cy="736099"/>
          </a:xfrm>
          <a:prstGeom prst="rect">
            <a:avLst/>
          </a:prstGeom>
          <a:solidFill>
            <a:srgbClr val="F8F2F2"/>
          </a:solidFill>
          <a:ln w="9525">
            <a:solidFill>
              <a:srgbClr val="E0D0D0"/>
            </a:solidFill>
          </a:ln>
        </p:spPr>
        <p:txBody>
          <a:bodyPr wrap="square" anchor="t">
            <a:spAutoFit/>
          </a:bodyPr>
          <a:lstStyle/>
          <a:p>
            <a:pPr algn="l">
              <a:spcAft>
                <a:spcPts val="60"/>
              </a:spcAft>
            </a:pPr>
            <a:r>
              <a:rPr lang="zh-CN" altLang="en-US" sz="1600" b="1" dirty="0">
                <a:solidFill>
                  <a:srgbClr val="4A2525"/>
                </a:solidFill>
              </a:rPr>
              <a:t>风险融合 + 自主响应生成</a:t>
            </a:r>
          </a:p>
          <a:p>
            <a:pPr algn="l"/>
            <a:r>
              <a:rPr lang="zh-CN" altLang="en-US" sz="1250" dirty="0">
                <a:solidFill>
                  <a:srgbClr val="444444"/>
                </a:solidFill>
              </a:rPr>
              <a:t>自适应加权融合（γSEM=0.75）；自动生成符合 AML / KYC / SAR 法规的结构化处置建议，实现风险识别到主动干预闭环</a:t>
            </a:r>
          </a:p>
        </p:txBody>
      </p:sp>
      <p:pic>
        <p:nvPicPr>
          <p:cNvPr id="4" name="Picture 2">
            <a:extLst>
              <a:ext uri="{FF2B5EF4-FFF2-40B4-BE49-F238E27FC236}">
                <a16:creationId xmlns:a16="http://schemas.microsoft.com/office/drawing/2014/main" id="{0978C7F3-247F-E7CA-2BBC-4FC2FB29AF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633"/>
          <a:stretch>
            <a:fillRect/>
          </a:stretch>
        </p:blipFill>
        <p:spPr bwMode="auto">
          <a:xfrm>
            <a:off x="11043556" y="0"/>
            <a:ext cx="1148442" cy="65956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B501ACC4-2642-FB82-D157-ED2182255821}"/>
              </a:ext>
            </a:extLst>
          </p:cNvPr>
          <p:cNvGrpSpPr/>
          <p:nvPr/>
        </p:nvGrpSpPr>
        <p:grpSpPr>
          <a:xfrm>
            <a:off x="375963" y="4067689"/>
            <a:ext cx="11560432" cy="946414"/>
            <a:chOff x="198179" y="5083352"/>
            <a:chExt cx="11560432" cy="946414"/>
          </a:xfrm>
        </p:grpSpPr>
        <p:sp>
          <p:nvSpPr>
            <p:cNvPr id="20" name="KpiBox0"/>
            <p:cNvSpPr txBox="1"/>
            <p:nvPr/>
          </p:nvSpPr>
          <p:spPr>
            <a:xfrm>
              <a:off x="198179" y="5109001"/>
              <a:ext cx="2448408" cy="920765"/>
            </a:xfrm>
            <a:prstGeom prst="rect">
              <a:avLst/>
            </a:prstGeom>
            <a:solidFill>
              <a:srgbClr val="8E1728"/>
            </a:solidFill>
            <a:ln>
              <a:noFill/>
            </a:ln>
          </p:spPr>
          <p:txBody>
            <a:bodyPr wrap="square" anchor="t">
              <a:spAutoFit/>
            </a:bodyPr>
            <a:lstStyle/>
            <a:p>
              <a:pPr algn="ctr">
                <a:spcAft>
                  <a:spcPts val="60"/>
                </a:spcAft>
              </a:pPr>
              <a:r>
                <a:rPr lang="en-US" altLang="zh-CN" sz="2000" dirty="0">
                  <a:solidFill>
                    <a:srgbClr val="FFFFFF"/>
                  </a:solidFill>
                  <a:latin typeface="Arial" pitchFamily="34" charset="0"/>
                </a:rPr>
                <a:t>76.49% → 90.13%</a:t>
              </a:r>
              <a:r>
                <a:rPr lang="zh-CN" altLang="en-US" sz="2000" dirty="0">
                  <a:solidFill>
                    <a:srgbClr val="FFFFFF"/>
                  </a:solidFill>
                  <a:latin typeface="Arial" pitchFamily="34" charset="0"/>
                </a:rPr>
                <a:t>（</a:t>
              </a:r>
              <a:r>
                <a:rPr lang="en-US" altLang="zh-CN" sz="2000" dirty="0">
                  <a:solidFill>
                    <a:srgbClr val="FFFFFF"/>
                  </a:solidFill>
                  <a:latin typeface="Arial" pitchFamily="34" charset="0"/>
                </a:rPr>
                <a:t>+13.64pp</a:t>
              </a:r>
              <a:r>
                <a:rPr lang="zh-CN" altLang="en-US" sz="2000" dirty="0">
                  <a:solidFill>
                    <a:srgbClr val="FFFFFF"/>
                  </a:solidFill>
                  <a:latin typeface="Arial" pitchFamily="34" charset="0"/>
                </a:rPr>
                <a:t>）</a:t>
              </a:r>
              <a:endParaRPr lang="en-US" altLang="zh-CN" sz="2000" dirty="0">
                <a:solidFill>
                  <a:srgbClr val="FFFFFF"/>
                </a:solidFill>
                <a:latin typeface="Arial" pitchFamily="34" charset="0"/>
              </a:endParaRPr>
            </a:p>
            <a:p>
              <a:pPr algn="ctr">
                <a:spcAft>
                  <a:spcPts val="60"/>
                </a:spcAft>
              </a:pPr>
              <a:r>
                <a:rPr lang="en-US" altLang="zh-CN" sz="1300" dirty="0">
                  <a:solidFill>
                    <a:srgbClr val="FFCCCC"/>
                  </a:solidFill>
                  <a:latin typeface="Arial" pitchFamily="34" charset="0"/>
                </a:rPr>
                <a:t>Overall F1</a:t>
              </a:r>
            </a:p>
          </p:txBody>
        </p:sp>
        <p:sp>
          <p:nvSpPr>
            <p:cNvPr id="21" name="KpiBox1"/>
            <p:cNvSpPr txBox="1"/>
            <p:nvPr/>
          </p:nvSpPr>
          <p:spPr>
            <a:xfrm>
              <a:off x="9583449" y="5083352"/>
              <a:ext cx="2175162" cy="933589"/>
            </a:xfrm>
            <a:prstGeom prst="rect">
              <a:avLst/>
            </a:prstGeom>
            <a:solidFill>
              <a:srgbClr val="8E1728"/>
            </a:solidFill>
            <a:ln>
              <a:noFill/>
            </a:ln>
          </p:spPr>
          <p:txBody>
            <a:bodyPr wrap="square" anchor="t">
              <a:spAutoFit/>
            </a:bodyPr>
            <a:lstStyle/>
            <a:p>
              <a:pPr algn="ctr">
                <a:spcAft>
                  <a:spcPts val="60"/>
                </a:spcAft>
              </a:pPr>
              <a:r>
                <a:rPr lang="en-US" altLang="zh-CN" sz="2000" dirty="0">
                  <a:solidFill>
                    <a:srgbClr val="FFFFFF"/>
                  </a:solidFill>
                  <a:latin typeface="Arial" panose="020B0604020202020204" pitchFamily="34" charset="0"/>
                  <a:cs typeface="Arial" panose="020B0604020202020204" pitchFamily="34" charset="0"/>
                </a:rPr>
                <a:t>~20%→ 9.09%</a:t>
              </a:r>
            </a:p>
            <a:p>
              <a:pPr algn="ctr">
                <a:spcAft>
                  <a:spcPts val="60"/>
                </a:spcAft>
              </a:pPr>
              <a:r>
                <a:rPr lang="zh-CN" altLang="en-US" sz="2000" dirty="0">
                  <a:solidFill>
                    <a:srgbClr val="FFFFFF"/>
                  </a:solidFill>
                  <a:latin typeface="Arial" panose="020B0604020202020204" pitchFamily="34" charset="0"/>
                  <a:cs typeface="Arial" panose="020B0604020202020204" pitchFamily="34" charset="0"/>
                </a:rPr>
                <a:t>（</a:t>
              </a:r>
              <a:r>
                <a:rPr lang="en-US" altLang="zh-CN" sz="2000" dirty="0">
                  <a:solidFill>
                    <a:srgbClr val="FFFFFF"/>
                  </a:solidFill>
                  <a:latin typeface="Arial" panose="020B0604020202020204" pitchFamily="34" charset="0"/>
                  <a:cs typeface="Arial" panose="020B0604020202020204" pitchFamily="34" charset="0"/>
                </a:rPr>
                <a:t>-10.91pp</a:t>
              </a:r>
              <a:r>
                <a:rPr lang="zh-CN" altLang="en-US" sz="2000" dirty="0">
                  <a:solidFill>
                    <a:srgbClr val="FFFFFF"/>
                  </a:solidFill>
                  <a:latin typeface="Arial" panose="020B0604020202020204" pitchFamily="34" charset="0"/>
                  <a:cs typeface="Arial" panose="020B0604020202020204" pitchFamily="34" charset="0"/>
                </a:rPr>
                <a:t>）</a:t>
              </a:r>
              <a:endParaRPr lang="en-US" altLang="zh-CN" sz="2000" dirty="0">
                <a:solidFill>
                  <a:srgbClr val="FFFFFF"/>
                </a:solidFill>
                <a:latin typeface="Arial" panose="020B0604020202020204" pitchFamily="34" charset="0"/>
                <a:cs typeface="Arial" panose="020B0604020202020204" pitchFamily="34" charset="0"/>
              </a:endParaRPr>
            </a:p>
            <a:p>
              <a:pPr algn="ctr">
                <a:spcAft>
                  <a:spcPts val="100"/>
                </a:spcAft>
              </a:pPr>
              <a:r>
                <a:rPr lang="en-US" altLang="zh-CN" sz="1300" dirty="0">
                  <a:solidFill>
                    <a:srgbClr val="FFCCCC"/>
                  </a:solidFill>
                  <a:latin typeface="Arial" pitchFamily="34" charset="0"/>
                </a:rPr>
                <a:t>Attack Success Rate</a:t>
              </a:r>
            </a:p>
          </p:txBody>
        </p:sp>
        <p:sp>
          <p:nvSpPr>
            <p:cNvPr id="22" name="KpiBox2"/>
            <p:cNvSpPr txBox="1"/>
            <p:nvPr/>
          </p:nvSpPr>
          <p:spPr>
            <a:xfrm>
              <a:off x="7552272" y="5109000"/>
              <a:ext cx="1969370" cy="907941"/>
            </a:xfrm>
            <a:prstGeom prst="rect">
              <a:avLst/>
            </a:prstGeom>
            <a:solidFill>
              <a:srgbClr val="8E1728"/>
            </a:solidFill>
            <a:ln>
              <a:noFill/>
            </a:ln>
          </p:spPr>
          <p:txBody>
            <a:bodyPr wrap="square" anchor="t">
              <a:spAutoFit/>
            </a:bodyPr>
            <a:lstStyle/>
            <a:p>
              <a:pPr algn="ctr">
                <a:spcAft>
                  <a:spcPts val="60"/>
                </a:spcAft>
              </a:pPr>
              <a:r>
                <a:rPr lang="en-US" altLang="zh-CN" sz="2000" dirty="0">
                  <a:solidFill>
                    <a:srgbClr val="FFFFFF"/>
                  </a:solidFill>
                  <a:latin typeface="Arial" pitchFamily="34" charset="0"/>
                </a:rPr>
                <a:t>0.813 → 0.909</a:t>
              </a:r>
              <a:r>
                <a:rPr lang="zh-CN" altLang="en-US" sz="2000" dirty="0">
                  <a:solidFill>
                    <a:srgbClr val="FFFFFF"/>
                  </a:solidFill>
                  <a:latin typeface="Arial" pitchFamily="34" charset="0"/>
                </a:rPr>
                <a:t>（</a:t>
              </a:r>
              <a:r>
                <a:rPr lang="en-US" altLang="zh-CN" sz="2000" dirty="0">
                  <a:solidFill>
                    <a:srgbClr val="FFFFFF"/>
                  </a:solidFill>
                  <a:latin typeface="Arial" pitchFamily="34" charset="0"/>
                </a:rPr>
                <a:t>+0.096</a:t>
              </a:r>
              <a:r>
                <a:rPr lang="zh-CN" altLang="en-US" sz="2000" dirty="0">
                  <a:solidFill>
                    <a:srgbClr val="FFFFFF"/>
                  </a:solidFill>
                  <a:latin typeface="Arial" pitchFamily="34" charset="0"/>
                </a:rPr>
                <a:t>）</a:t>
              </a:r>
              <a:r>
                <a:rPr lang="en-US" altLang="zh-CN" sz="1300" dirty="0">
                  <a:solidFill>
                    <a:srgbClr val="FFCCCC"/>
                  </a:solidFill>
                  <a:latin typeface="Arial" pitchFamily="34" charset="0"/>
                </a:rPr>
                <a:t>Composite Score</a:t>
              </a:r>
            </a:p>
          </p:txBody>
        </p:sp>
        <p:sp>
          <p:nvSpPr>
            <p:cNvPr id="23" name="KpiBox3"/>
            <p:cNvSpPr txBox="1"/>
            <p:nvPr/>
          </p:nvSpPr>
          <p:spPr>
            <a:xfrm>
              <a:off x="5218608" y="5109000"/>
              <a:ext cx="2271857" cy="920765"/>
            </a:xfrm>
            <a:prstGeom prst="rect">
              <a:avLst/>
            </a:prstGeom>
            <a:solidFill>
              <a:srgbClr val="8E1728"/>
            </a:solidFill>
            <a:ln>
              <a:noFill/>
            </a:ln>
          </p:spPr>
          <p:txBody>
            <a:bodyPr wrap="square" anchor="t">
              <a:spAutoFit/>
            </a:bodyPr>
            <a:lstStyle/>
            <a:p>
              <a:pPr algn="ctr">
                <a:spcAft>
                  <a:spcPts val="60"/>
                </a:spcAft>
              </a:pPr>
              <a:r>
                <a:rPr lang="en-US" altLang="zh-CN" sz="2000" dirty="0">
                  <a:solidFill>
                    <a:srgbClr val="FFFFFF"/>
                  </a:solidFill>
                  <a:latin typeface="Arial" pitchFamily="34" charset="0"/>
                </a:rPr>
                <a:t>72.97%→ 85.71%</a:t>
              </a:r>
              <a:r>
                <a:rPr lang="zh-CN" altLang="en-US" sz="2000" dirty="0">
                  <a:solidFill>
                    <a:srgbClr val="FFFFFF"/>
                  </a:solidFill>
                  <a:latin typeface="Arial" pitchFamily="34" charset="0"/>
                </a:rPr>
                <a:t>（</a:t>
              </a:r>
              <a:r>
                <a:rPr lang="en-US" altLang="zh-CN" sz="2000" dirty="0">
                  <a:solidFill>
                    <a:srgbClr val="FFFFFF"/>
                  </a:solidFill>
                  <a:latin typeface="Arial" pitchFamily="34" charset="0"/>
                </a:rPr>
                <a:t>+12.74pp</a:t>
              </a:r>
              <a:r>
                <a:rPr lang="zh-CN" altLang="en-US" sz="2000" dirty="0">
                  <a:solidFill>
                    <a:srgbClr val="FFFFFF"/>
                  </a:solidFill>
                  <a:latin typeface="Arial" pitchFamily="34" charset="0"/>
                </a:rPr>
                <a:t>）</a:t>
              </a:r>
            </a:p>
            <a:p>
              <a:pPr algn="ctr">
                <a:spcAft>
                  <a:spcPts val="100"/>
                </a:spcAft>
              </a:pPr>
              <a:r>
                <a:rPr lang="en-US" altLang="zh-CN" sz="1300" dirty="0">
                  <a:solidFill>
                    <a:srgbClr val="FFCCCC"/>
                  </a:solidFill>
                  <a:latin typeface="Arial" pitchFamily="34" charset="0"/>
                </a:rPr>
                <a:t>Unintended Risk F1</a:t>
              </a:r>
            </a:p>
          </p:txBody>
        </p:sp>
        <p:sp>
          <p:nvSpPr>
            <p:cNvPr id="5" name="KpiBox3">
              <a:extLst>
                <a:ext uri="{FF2B5EF4-FFF2-40B4-BE49-F238E27FC236}">
                  <a16:creationId xmlns:a16="http://schemas.microsoft.com/office/drawing/2014/main" id="{1F317897-9E2C-3213-F129-07E291C4E734}"/>
                </a:ext>
              </a:extLst>
            </p:cNvPr>
            <p:cNvSpPr txBox="1"/>
            <p:nvPr/>
          </p:nvSpPr>
          <p:spPr>
            <a:xfrm>
              <a:off x="2708394" y="5109000"/>
              <a:ext cx="2448407" cy="920765"/>
            </a:xfrm>
            <a:prstGeom prst="rect">
              <a:avLst/>
            </a:prstGeom>
            <a:solidFill>
              <a:srgbClr val="8E1728"/>
            </a:solidFill>
            <a:ln>
              <a:noFill/>
            </a:ln>
          </p:spPr>
          <p:txBody>
            <a:bodyPr wrap="square" anchor="t">
              <a:spAutoFit/>
            </a:bodyPr>
            <a:lstStyle/>
            <a:p>
              <a:pPr algn="ctr">
                <a:spcAft>
                  <a:spcPts val="60"/>
                </a:spcAft>
              </a:pPr>
              <a:r>
                <a:rPr lang="en-US" altLang="zh-CN" sz="2000" dirty="0">
                  <a:solidFill>
                    <a:srgbClr val="FFFFFF"/>
                  </a:solidFill>
                  <a:latin typeface="Arial" pitchFamily="34" charset="0"/>
                </a:rPr>
                <a:t>80.00% → 94.55%</a:t>
              </a:r>
              <a:r>
                <a:rPr lang="zh-CN" altLang="en-US" sz="2000" dirty="0">
                  <a:solidFill>
                    <a:srgbClr val="FFFFFF"/>
                  </a:solidFill>
                  <a:latin typeface="Arial" pitchFamily="34" charset="0"/>
                </a:rPr>
                <a:t>（</a:t>
              </a:r>
              <a:r>
                <a:rPr lang="en-US" altLang="zh-CN" sz="2000" dirty="0">
                  <a:solidFill>
                    <a:srgbClr val="FFFFFF"/>
                  </a:solidFill>
                  <a:latin typeface="Arial" pitchFamily="34" charset="0"/>
                </a:rPr>
                <a:t>+14.55pp</a:t>
              </a:r>
              <a:r>
                <a:rPr lang="zh-CN" altLang="en-US" sz="2000" dirty="0">
                  <a:solidFill>
                    <a:srgbClr val="FFFFFF"/>
                  </a:solidFill>
                  <a:latin typeface="Arial" pitchFamily="34" charset="0"/>
                </a:rPr>
                <a:t>）</a:t>
              </a:r>
              <a:endParaRPr lang="en-US" altLang="zh-CN" sz="2000" dirty="0">
                <a:solidFill>
                  <a:srgbClr val="FFFFFF"/>
                </a:solidFill>
                <a:latin typeface="Arial" pitchFamily="34" charset="0"/>
              </a:endParaRPr>
            </a:p>
            <a:p>
              <a:pPr algn="ctr">
                <a:spcAft>
                  <a:spcPts val="60"/>
                </a:spcAft>
              </a:pPr>
              <a:r>
                <a:rPr lang="en-US" altLang="zh-CN" sz="1300" dirty="0">
                  <a:solidFill>
                    <a:srgbClr val="FFCCCC"/>
                  </a:solidFill>
                  <a:latin typeface="Arial" pitchFamily="34" charset="0"/>
                </a:rPr>
                <a:t>Injection Risk F1</a:t>
              </a:r>
            </a:p>
          </p:txBody>
        </p:sp>
      </p:grpSp>
      <p:sp>
        <p:nvSpPr>
          <p:cNvPr id="7" name="文本框 6">
            <a:extLst>
              <a:ext uri="{FF2B5EF4-FFF2-40B4-BE49-F238E27FC236}">
                <a16:creationId xmlns:a16="http://schemas.microsoft.com/office/drawing/2014/main" id="{A196BCAD-ED28-CF8E-C999-6FC6B623CC46}"/>
              </a:ext>
            </a:extLst>
          </p:cNvPr>
          <p:cNvSpPr txBox="1"/>
          <p:nvPr/>
        </p:nvSpPr>
        <p:spPr>
          <a:xfrm>
            <a:off x="485468" y="5639967"/>
            <a:ext cx="11132309" cy="923330"/>
          </a:xfrm>
          <a:prstGeom prst="rect">
            <a:avLst/>
          </a:prstGeom>
          <a:solidFill>
            <a:srgbClr val="F6F0F0"/>
          </a:solidFill>
          <a:ln>
            <a:solidFill>
              <a:srgbClr val="C00000"/>
            </a:solidFill>
          </a:ln>
        </p:spPr>
        <p:txBody>
          <a:bodyPr wrap="square" rtlCol="0">
            <a:spAutoFit/>
          </a:bodyPr>
          <a:lstStyle/>
          <a:p>
            <a:r>
              <a:rPr lang="zh-CN" altLang="zh-CN" dirty="0"/>
              <a:t>FinSec 的核心创新在于将"对抗思维"引入检测架构——通过主动模拟攻击者的未来攻击路径来评估当前对话的潜在风险，而非被动等待风险暴露，从而首次将金融合规领域的 SAR 监管逻辑与生成式对抗推演结合进一个可解释的端到端闭环系统。</a:t>
            </a:r>
            <a:endParaRPr kumimoji="1" lang="zh-CN" altLang="en-US" dirty="0"/>
          </a:p>
        </p:txBody>
      </p:sp>
      <p:sp>
        <p:nvSpPr>
          <p:cNvPr id="3" name="文本框 2">
            <a:extLst>
              <a:ext uri="{FF2B5EF4-FFF2-40B4-BE49-F238E27FC236}">
                <a16:creationId xmlns:a16="http://schemas.microsoft.com/office/drawing/2014/main" id="{26AA55F4-1405-9F94-C74E-62D93F3BBA2D}"/>
              </a:ext>
            </a:extLst>
          </p:cNvPr>
          <p:cNvSpPr txBox="1"/>
          <p:nvPr/>
        </p:nvSpPr>
        <p:spPr>
          <a:xfrm flipH="1">
            <a:off x="11736136" y="6411340"/>
            <a:ext cx="270164" cy="369332"/>
          </a:xfrm>
          <a:prstGeom prst="rect">
            <a:avLst/>
          </a:prstGeom>
          <a:noFill/>
        </p:spPr>
        <p:txBody>
          <a:bodyPr wrap="square" rtlCol="0">
            <a:spAutoFit/>
          </a:bodyPr>
          <a:lstStyle/>
          <a:p>
            <a:r>
              <a:rPr kumimoji="1" lang="en-US" altLang="zh-CN" dirty="0"/>
              <a:t>3</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20702-0623-8F1B-2A65-34017E28A2D4}"/>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6870EED9-F46D-457B-9222-282E60CB0ABF}"/>
              </a:ext>
            </a:extLst>
          </p:cNvPr>
          <p:cNvSpPr/>
          <p:nvPr/>
        </p:nvSpPr>
        <p:spPr>
          <a:xfrm>
            <a:off x="0" y="0"/>
            <a:ext cx="12192000" cy="67030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Picture 2">
            <a:extLst>
              <a:ext uri="{FF2B5EF4-FFF2-40B4-BE49-F238E27FC236}">
                <a16:creationId xmlns:a16="http://schemas.microsoft.com/office/drawing/2014/main" id="{30932BA3-3C6C-F9FF-799E-663F7783A0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33"/>
          <a:stretch>
            <a:fillRect/>
          </a:stretch>
        </p:blipFill>
        <p:spPr bwMode="auto">
          <a:xfrm>
            <a:off x="11043558" y="0"/>
            <a:ext cx="1148442" cy="659568"/>
          </a:xfrm>
          <a:prstGeom prst="rect">
            <a:avLst/>
          </a:prstGeom>
          <a:noFill/>
          <a:extLst>
            <a:ext uri="{909E8E84-426E-40DD-AFC4-6F175D3DCCD1}">
              <a14:hiddenFill xmlns:a14="http://schemas.microsoft.com/office/drawing/2010/main">
                <a:solidFill>
                  <a:srgbClr val="FFFFFF"/>
                </a:solidFill>
              </a14:hiddenFill>
            </a:ext>
          </a:extLst>
        </p:spPr>
      </p:pic>
      <p:sp>
        <p:nvSpPr>
          <p:cNvPr id="3" name="SlideTitle">
            <a:extLst>
              <a:ext uri="{FF2B5EF4-FFF2-40B4-BE49-F238E27FC236}">
                <a16:creationId xmlns:a16="http://schemas.microsoft.com/office/drawing/2014/main" id="{F3433A72-7B92-9559-66E4-2CD6EC9C7FBB}"/>
              </a:ext>
            </a:extLst>
          </p:cNvPr>
          <p:cNvSpPr txBox="1"/>
          <p:nvPr/>
        </p:nvSpPr>
        <p:spPr>
          <a:xfrm>
            <a:off x="92000" y="92925"/>
            <a:ext cx="11592000" cy="523220"/>
          </a:xfrm>
          <a:prstGeom prst="rect">
            <a:avLst/>
          </a:prstGeom>
          <a:noFill/>
          <a:ln>
            <a:noFill/>
          </a:ln>
        </p:spPr>
        <p:txBody>
          <a:bodyPr wrap="square" anchor="t">
            <a:spAutoFit/>
          </a:bodyPr>
          <a:lstStyle/>
          <a:p>
            <a:pPr algn="l">
              <a:spcAft>
                <a:spcPts val="100"/>
              </a:spcAft>
            </a:pPr>
            <a:r>
              <a:rPr lang="zh-CN" altLang="en-US" sz="2800" b="1" dirty="0">
                <a:solidFill>
                  <a:schemeClr val="bg1"/>
                </a:solidFill>
              </a:rPr>
              <a:t>研究二· Security Valve：语义通道的强制拦截阀</a:t>
            </a:r>
          </a:p>
        </p:txBody>
      </p:sp>
      <p:pic>
        <p:nvPicPr>
          <p:cNvPr id="4" name="图片 3">
            <a:extLst>
              <a:ext uri="{FF2B5EF4-FFF2-40B4-BE49-F238E27FC236}">
                <a16:creationId xmlns:a16="http://schemas.microsoft.com/office/drawing/2014/main" id="{F6542F1F-346A-7B4E-4005-4EBAAFFCE700}"/>
              </a:ext>
            </a:extLst>
          </p:cNvPr>
          <p:cNvPicPr>
            <a:picLocks noChangeAspect="1"/>
          </p:cNvPicPr>
          <p:nvPr/>
        </p:nvPicPr>
        <p:blipFill>
          <a:blip r:embed="rId3"/>
          <a:stretch>
            <a:fillRect/>
          </a:stretch>
        </p:blipFill>
        <p:spPr>
          <a:xfrm>
            <a:off x="92000" y="1023690"/>
            <a:ext cx="10024640" cy="5614183"/>
          </a:xfrm>
          <a:prstGeom prst="rect">
            <a:avLst/>
          </a:prstGeom>
        </p:spPr>
      </p:pic>
      <p:sp>
        <p:nvSpPr>
          <p:cNvPr id="7" name="文本框 6">
            <a:extLst>
              <a:ext uri="{FF2B5EF4-FFF2-40B4-BE49-F238E27FC236}">
                <a16:creationId xmlns:a16="http://schemas.microsoft.com/office/drawing/2014/main" id="{BDD5976B-18A6-CE50-5ECD-B593220AED86}"/>
              </a:ext>
            </a:extLst>
          </p:cNvPr>
          <p:cNvSpPr txBox="1"/>
          <p:nvPr/>
        </p:nvSpPr>
        <p:spPr>
          <a:xfrm>
            <a:off x="10191503" y="2036618"/>
            <a:ext cx="2000497" cy="2862322"/>
          </a:xfrm>
          <a:prstGeom prst="rect">
            <a:avLst/>
          </a:prstGeom>
          <a:noFill/>
        </p:spPr>
        <p:txBody>
          <a:bodyPr wrap="square" rtlCol="0">
            <a:spAutoFit/>
          </a:bodyPr>
          <a:lstStyle/>
          <a:p>
            <a:r>
              <a:rPr lang="zh-CN" altLang="en-US" dirty="0"/>
              <a:t>我做了什么：</a:t>
            </a:r>
            <a:endParaRPr lang="en-US" altLang="zh-CN" dirty="0"/>
          </a:p>
          <a:p>
            <a:r>
              <a:rPr lang="zh-CN" altLang="zh-CN" dirty="0"/>
              <a:t>在执行模块的上游嵌入一个强制拦截点，通过规则与语义的双层串行审查，将外部检测器的"发现风险"升级为管道级的"硬阻断"。</a:t>
            </a:r>
          </a:p>
          <a:p>
            <a:endParaRPr kumimoji="1" lang="zh-CN" altLang="en-US" dirty="0"/>
          </a:p>
        </p:txBody>
      </p:sp>
      <p:sp>
        <p:nvSpPr>
          <p:cNvPr id="2" name="文本框 1">
            <a:extLst>
              <a:ext uri="{FF2B5EF4-FFF2-40B4-BE49-F238E27FC236}">
                <a16:creationId xmlns:a16="http://schemas.microsoft.com/office/drawing/2014/main" id="{72FCDCBB-C33E-7486-28FD-B29B7AE03294}"/>
              </a:ext>
            </a:extLst>
          </p:cNvPr>
          <p:cNvSpPr txBox="1"/>
          <p:nvPr/>
        </p:nvSpPr>
        <p:spPr>
          <a:xfrm flipH="1">
            <a:off x="11736136" y="6411340"/>
            <a:ext cx="270164" cy="369332"/>
          </a:xfrm>
          <a:prstGeom prst="rect">
            <a:avLst/>
          </a:prstGeom>
          <a:noFill/>
        </p:spPr>
        <p:txBody>
          <a:bodyPr wrap="square" rtlCol="0">
            <a:spAutoFit/>
          </a:bodyPr>
          <a:lstStyle/>
          <a:p>
            <a:r>
              <a:rPr kumimoji="1" lang="en-US" altLang="zh-CN" dirty="0"/>
              <a:t>4</a:t>
            </a:r>
            <a:endParaRPr kumimoji="1" lang="zh-CN" altLang="en-US" dirty="0"/>
          </a:p>
        </p:txBody>
      </p:sp>
    </p:spTree>
    <p:extLst>
      <p:ext uri="{BB962C8B-B14F-4D97-AF65-F5344CB8AC3E}">
        <p14:creationId xmlns:p14="http://schemas.microsoft.com/office/powerpoint/2010/main" val="332064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12192000" cy="670308"/>
          </a:xfrm>
          <a:prstGeom prst="rect">
            <a:avLst/>
          </a:prstGeom>
          <a:solidFill>
            <a:srgbClr val="8E1728"/>
          </a:solidFill>
          <a:ln>
            <a:noFill/>
          </a:ln>
        </p:spPr>
        <p:txBody>
          <a:bodyPr rtlCol="0" anchor="ctr"/>
          <a:lstStyle/>
          <a:p>
            <a:pPr algn="ctr"/>
            <a:endParaRPr lang="zh-CN" altLang="en-US" dirty="0"/>
          </a:p>
        </p:txBody>
      </p:sp>
      <p:sp>
        <p:nvSpPr>
          <p:cNvPr id="12" name="TitleBar"/>
          <p:cNvSpPr txBox="1"/>
          <p:nvPr/>
        </p:nvSpPr>
        <p:spPr>
          <a:xfrm>
            <a:off x="130927" y="2300154"/>
            <a:ext cx="11592000" cy="10000"/>
          </a:xfrm>
          <a:prstGeom prst="rect">
            <a:avLst/>
          </a:prstGeom>
          <a:solidFill>
            <a:srgbClr val="8E1728"/>
          </a:solidFill>
          <a:ln>
            <a:noFill/>
          </a:ln>
        </p:spPr>
        <p:txBody>
          <a:bodyPr/>
          <a:lstStyle/>
          <a:p>
            <a:endParaRPr lang="zh-CN" altLang="en-US"/>
          </a:p>
        </p:txBody>
      </p:sp>
      <p:sp>
        <p:nvSpPr>
          <p:cNvPr id="20" name="Pipe0"/>
          <p:cNvSpPr txBox="1"/>
          <p:nvPr/>
        </p:nvSpPr>
        <p:spPr>
          <a:xfrm>
            <a:off x="504809" y="1153202"/>
            <a:ext cx="2000000" cy="566822"/>
          </a:xfrm>
          <a:prstGeom prst="rect">
            <a:avLst/>
          </a:prstGeom>
          <a:solidFill>
            <a:schemeClr val="bg2">
              <a:lumMod val="75000"/>
            </a:schemeClr>
          </a:solidFill>
          <a:ln>
            <a:noFill/>
          </a:ln>
        </p:spPr>
        <p:txBody>
          <a:bodyPr wrap="square" anchor="t">
            <a:spAutoFit/>
          </a:bodyPr>
          <a:lstStyle/>
          <a:p>
            <a:pPr algn="ctr">
              <a:spcAft>
                <a:spcPts val="100"/>
              </a:spcAft>
            </a:pPr>
            <a:r>
              <a:rPr lang="zh-CN" altLang="en-US" sz="1500" dirty="0">
                <a:solidFill>
                  <a:srgbClr val="FFFFFF"/>
                </a:solidFill>
              </a:rPr>
              <a:t>User
用户请求</a:t>
            </a:r>
            <a:r>
              <a:rPr lang="en-US" altLang="zh-CN" sz="1500" dirty="0">
                <a:solidFill>
                  <a:srgbClr val="FFFFFF"/>
                </a:solidFill>
              </a:rPr>
              <a:t> </a:t>
            </a:r>
            <a:endParaRPr lang="zh-CN" altLang="en-US" sz="1500" dirty="0">
              <a:solidFill>
                <a:srgbClr val="FFFFFF"/>
              </a:solidFill>
            </a:endParaRPr>
          </a:p>
        </p:txBody>
      </p:sp>
      <p:sp>
        <p:nvSpPr>
          <p:cNvPr id="30" name="Arrow0"/>
          <p:cNvSpPr txBox="1"/>
          <p:nvPr/>
        </p:nvSpPr>
        <p:spPr>
          <a:xfrm>
            <a:off x="2554661" y="1399896"/>
            <a:ext cx="250000" cy="80000"/>
          </a:xfrm>
          <a:prstGeom prst="rect">
            <a:avLst/>
          </a:prstGeom>
          <a:solidFill>
            <a:srgbClr val="888888"/>
          </a:solidFill>
          <a:ln>
            <a:noFill/>
          </a:ln>
        </p:spPr>
        <p:txBody>
          <a:bodyPr/>
          <a:lstStyle/>
          <a:p>
            <a:endParaRPr lang="zh-CN" altLang="en-US"/>
          </a:p>
        </p:txBody>
      </p:sp>
      <p:sp>
        <p:nvSpPr>
          <p:cNvPr id="21" name="Pipe1"/>
          <p:cNvSpPr txBox="1"/>
          <p:nvPr/>
        </p:nvSpPr>
        <p:spPr>
          <a:xfrm>
            <a:off x="2868061" y="1153202"/>
            <a:ext cx="2000000" cy="566822"/>
          </a:xfrm>
          <a:prstGeom prst="rect">
            <a:avLst/>
          </a:prstGeom>
          <a:solidFill>
            <a:srgbClr val="B08080"/>
          </a:solidFill>
          <a:ln>
            <a:noFill/>
          </a:ln>
        </p:spPr>
        <p:txBody>
          <a:bodyPr wrap="square" anchor="t">
            <a:spAutoFit/>
          </a:bodyPr>
          <a:lstStyle/>
          <a:p>
            <a:pPr algn="ctr">
              <a:spcAft>
                <a:spcPts val="100"/>
              </a:spcAft>
            </a:pPr>
            <a:r>
              <a:rPr lang="zh-CN" altLang="en-US" sz="1500" dirty="0">
                <a:solidFill>
                  <a:srgbClr val="FFFFFF"/>
                </a:solidFill>
              </a:rPr>
              <a:t>Commander
意图路由</a:t>
            </a:r>
            <a:endParaRPr lang="en-US" altLang="zh-CN" sz="1500" dirty="0">
              <a:solidFill>
                <a:srgbClr val="FFFFFF"/>
              </a:solidFill>
            </a:endParaRPr>
          </a:p>
        </p:txBody>
      </p:sp>
      <p:sp>
        <p:nvSpPr>
          <p:cNvPr id="31" name="Arrow1"/>
          <p:cNvSpPr txBox="1"/>
          <p:nvPr/>
        </p:nvSpPr>
        <p:spPr>
          <a:xfrm>
            <a:off x="4925313" y="1399896"/>
            <a:ext cx="250000" cy="80000"/>
          </a:xfrm>
          <a:prstGeom prst="rect">
            <a:avLst/>
          </a:prstGeom>
          <a:solidFill>
            <a:srgbClr val="888888"/>
          </a:solidFill>
          <a:ln>
            <a:noFill/>
          </a:ln>
        </p:spPr>
        <p:txBody>
          <a:bodyPr/>
          <a:lstStyle/>
          <a:p>
            <a:endParaRPr lang="zh-CN" altLang="en-US"/>
          </a:p>
        </p:txBody>
      </p:sp>
      <p:sp>
        <p:nvSpPr>
          <p:cNvPr id="22" name="Pipe2"/>
          <p:cNvSpPr txBox="1"/>
          <p:nvPr/>
        </p:nvSpPr>
        <p:spPr>
          <a:xfrm>
            <a:off x="5204809" y="1153202"/>
            <a:ext cx="2000000" cy="566822"/>
          </a:xfrm>
          <a:prstGeom prst="rect">
            <a:avLst/>
          </a:prstGeom>
          <a:solidFill>
            <a:srgbClr val="A06060"/>
          </a:solidFill>
          <a:ln>
            <a:noFill/>
          </a:ln>
        </p:spPr>
        <p:txBody>
          <a:bodyPr wrap="square" anchor="t">
            <a:spAutoFit/>
          </a:bodyPr>
          <a:lstStyle/>
          <a:p>
            <a:pPr algn="ctr">
              <a:spcAft>
                <a:spcPts val="100"/>
              </a:spcAft>
            </a:pPr>
            <a:r>
              <a:rPr lang="zh-CN" altLang="en-US" sz="1500" dirty="0">
                <a:solidFill>
                  <a:srgbClr val="FFFFFF"/>
                </a:solidFill>
              </a:rPr>
              <a:t>Thinker
风险分析</a:t>
            </a:r>
            <a:r>
              <a:rPr lang="en-US" altLang="zh-CN" sz="1500" dirty="0">
                <a:solidFill>
                  <a:srgbClr val="FFFFFF"/>
                </a:solidFill>
              </a:rPr>
              <a:t> </a:t>
            </a:r>
            <a:endParaRPr lang="zh-CN" altLang="en-US" sz="1500" dirty="0">
              <a:solidFill>
                <a:srgbClr val="FFFFFF"/>
              </a:solidFill>
            </a:endParaRPr>
          </a:p>
        </p:txBody>
      </p:sp>
      <p:sp>
        <p:nvSpPr>
          <p:cNvPr id="32" name="Arrow2"/>
          <p:cNvSpPr txBox="1"/>
          <p:nvPr/>
        </p:nvSpPr>
        <p:spPr>
          <a:xfrm>
            <a:off x="7229652" y="1420689"/>
            <a:ext cx="250000" cy="80000"/>
          </a:xfrm>
          <a:prstGeom prst="rect">
            <a:avLst/>
          </a:prstGeom>
          <a:solidFill>
            <a:srgbClr val="888888"/>
          </a:solidFill>
          <a:ln>
            <a:noFill/>
          </a:ln>
        </p:spPr>
        <p:txBody>
          <a:bodyPr/>
          <a:lstStyle/>
          <a:p>
            <a:endParaRPr lang="zh-CN" altLang="en-US"/>
          </a:p>
        </p:txBody>
      </p:sp>
      <p:sp>
        <p:nvSpPr>
          <p:cNvPr id="23" name="Pipe3"/>
          <p:cNvSpPr txBox="1"/>
          <p:nvPr/>
        </p:nvSpPr>
        <p:spPr>
          <a:xfrm>
            <a:off x="7569985" y="1055838"/>
            <a:ext cx="1037473" cy="810478"/>
          </a:xfrm>
          <a:prstGeom prst="rect">
            <a:avLst/>
          </a:prstGeom>
          <a:solidFill>
            <a:srgbClr val="8E1728"/>
          </a:solidFill>
          <a:ln w="25400">
            <a:solidFill>
              <a:srgbClr val="8E1728"/>
            </a:solidFill>
          </a:ln>
        </p:spPr>
        <p:txBody>
          <a:bodyPr wrap="square" anchor="t">
            <a:spAutoFit/>
          </a:bodyPr>
          <a:lstStyle/>
          <a:p>
            <a:pPr algn="ctr">
              <a:spcAft>
                <a:spcPts val="100"/>
              </a:spcAft>
            </a:pPr>
            <a:r>
              <a:rPr lang="zh-CN" altLang="en-US" sz="1500" b="1" dirty="0">
                <a:solidFill>
                  <a:srgbClr val="FFFFFF"/>
                </a:solidFill>
              </a:rPr>
              <a:t>Security</a:t>
            </a:r>
            <a:endParaRPr lang="en-US" altLang="zh-CN" sz="1500" b="1" dirty="0">
              <a:solidFill>
                <a:srgbClr val="FFFFFF"/>
              </a:solidFill>
            </a:endParaRPr>
          </a:p>
          <a:p>
            <a:pPr algn="ctr">
              <a:spcAft>
                <a:spcPts val="100"/>
              </a:spcAft>
            </a:pPr>
            <a:r>
              <a:rPr lang="zh-CN" altLang="en-US" sz="1500" b="1" dirty="0">
                <a:solidFill>
                  <a:srgbClr val="FFFFFF"/>
                </a:solidFill>
              </a:rPr>
              <a:t>
Valve ⚡</a:t>
            </a:r>
            <a:endParaRPr lang="en-US" altLang="zh-CN" sz="1500" b="1" dirty="0">
              <a:solidFill>
                <a:srgbClr val="FFFFFF"/>
              </a:solidFill>
            </a:endParaRPr>
          </a:p>
        </p:txBody>
      </p:sp>
      <p:sp>
        <p:nvSpPr>
          <p:cNvPr id="33" name="Arrow3"/>
          <p:cNvSpPr txBox="1"/>
          <p:nvPr/>
        </p:nvSpPr>
        <p:spPr>
          <a:xfrm>
            <a:off x="8672612" y="1056444"/>
            <a:ext cx="920000" cy="76563"/>
          </a:xfrm>
          <a:prstGeom prst="rect">
            <a:avLst/>
          </a:prstGeom>
          <a:solidFill>
            <a:srgbClr val="888888"/>
          </a:solidFill>
          <a:ln>
            <a:noFill/>
          </a:ln>
        </p:spPr>
        <p:txBody>
          <a:bodyPr/>
          <a:lstStyle/>
          <a:p>
            <a:endParaRPr lang="zh-CN" altLang="en-US"/>
          </a:p>
        </p:txBody>
      </p:sp>
      <p:sp>
        <p:nvSpPr>
          <p:cNvPr id="24" name="Pipe4"/>
          <p:cNvSpPr txBox="1"/>
          <p:nvPr/>
        </p:nvSpPr>
        <p:spPr>
          <a:xfrm>
            <a:off x="9722919" y="793793"/>
            <a:ext cx="1368191" cy="566822"/>
          </a:xfrm>
          <a:prstGeom prst="rect">
            <a:avLst/>
          </a:prstGeom>
          <a:solidFill>
            <a:srgbClr val="4A7A4A"/>
          </a:solidFill>
          <a:ln>
            <a:noFill/>
          </a:ln>
        </p:spPr>
        <p:txBody>
          <a:bodyPr wrap="square" anchor="t">
            <a:spAutoFit/>
          </a:bodyPr>
          <a:lstStyle/>
          <a:p>
            <a:pPr algn="ctr">
              <a:spcAft>
                <a:spcPts val="100"/>
              </a:spcAft>
            </a:pPr>
            <a:r>
              <a:rPr lang="zh-CN" altLang="en-US" sz="1500" dirty="0">
                <a:solidFill>
                  <a:srgbClr val="FFFFFF"/>
                </a:solidFill>
              </a:rPr>
              <a:t>Finance
Agent ✓</a:t>
            </a:r>
            <a:r>
              <a:rPr lang="en-US" altLang="zh-CN" sz="1500" dirty="0">
                <a:solidFill>
                  <a:srgbClr val="FFFFFF"/>
                </a:solidFill>
              </a:rPr>
              <a:t> </a:t>
            </a:r>
            <a:endParaRPr lang="zh-CN" altLang="en-US" sz="1500" dirty="0">
              <a:solidFill>
                <a:srgbClr val="FFFFFF"/>
              </a:solidFill>
            </a:endParaRPr>
          </a:p>
        </p:txBody>
      </p:sp>
      <p:sp>
        <p:nvSpPr>
          <p:cNvPr id="35" name="BlockBox"/>
          <p:cNvSpPr txBox="1"/>
          <p:nvPr/>
        </p:nvSpPr>
        <p:spPr>
          <a:xfrm>
            <a:off x="9722630" y="1527892"/>
            <a:ext cx="1389037" cy="369332"/>
          </a:xfrm>
          <a:prstGeom prst="rect">
            <a:avLst/>
          </a:prstGeom>
          <a:solidFill>
            <a:srgbClr val="CC2222"/>
          </a:solidFill>
          <a:ln>
            <a:noFill/>
          </a:ln>
        </p:spPr>
        <p:txBody>
          <a:bodyPr wrap="square" anchor="t">
            <a:spAutoFit/>
          </a:bodyPr>
          <a:lstStyle/>
          <a:p>
            <a:pPr algn="ctr">
              <a:spcAft>
                <a:spcPts val="100"/>
              </a:spcAft>
            </a:pPr>
            <a:r>
              <a:rPr lang="zh-CN" altLang="en-US" sz="1600" b="1" dirty="0">
                <a:solidFill>
                  <a:srgbClr val="FFFFFF"/>
                </a:solidFill>
              </a:rPr>
              <a:t>BLOCK</a:t>
            </a:r>
            <a:r>
              <a:rPr lang="en-US" altLang="zh-CN" b="1" dirty="0">
                <a:solidFill>
                  <a:srgbClr val="FFFFFF"/>
                </a:solidFill>
              </a:rPr>
              <a:t> </a:t>
            </a:r>
            <a:r>
              <a:rPr lang="en-US" altLang="zh-CN" sz="1800" b="1" dirty="0">
                <a:solidFill>
                  <a:srgbClr val="FFFFFF"/>
                </a:solidFill>
              </a:rPr>
              <a:t> </a:t>
            </a:r>
            <a:endParaRPr lang="zh-CN" altLang="en-US" sz="1800" b="1" dirty="0">
              <a:solidFill>
                <a:srgbClr val="FFFFFF"/>
              </a:solidFill>
            </a:endParaRPr>
          </a:p>
        </p:txBody>
      </p:sp>
      <p:grpSp>
        <p:nvGrpSpPr>
          <p:cNvPr id="5" name="组合 4">
            <a:extLst>
              <a:ext uri="{FF2B5EF4-FFF2-40B4-BE49-F238E27FC236}">
                <a16:creationId xmlns:a16="http://schemas.microsoft.com/office/drawing/2014/main" id="{9D70D8B5-4BF5-3606-4AE7-891DEF58B1C6}"/>
              </a:ext>
            </a:extLst>
          </p:cNvPr>
          <p:cNvGrpSpPr/>
          <p:nvPr/>
        </p:nvGrpSpPr>
        <p:grpSpPr>
          <a:xfrm>
            <a:off x="8644901" y="1486094"/>
            <a:ext cx="1050018" cy="313906"/>
            <a:chOff x="8463982" y="1565606"/>
            <a:chExt cx="1050018" cy="313906"/>
          </a:xfrm>
        </p:grpSpPr>
        <p:sp>
          <p:nvSpPr>
            <p:cNvPr id="36" name="BlockArrow"/>
            <p:cNvSpPr txBox="1"/>
            <p:nvPr/>
          </p:nvSpPr>
          <p:spPr>
            <a:xfrm>
              <a:off x="8463982" y="1802949"/>
              <a:ext cx="947711" cy="76563"/>
            </a:xfrm>
            <a:prstGeom prst="rect">
              <a:avLst/>
            </a:prstGeom>
            <a:solidFill>
              <a:srgbClr val="CC2222"/>
            </a:solidFill>
            <a:ln>
              <a:noFill/>
            </a:ln>
          </p:spPr>
          <p:txBody>
            <a:bodyPr/>
            <a:lstStyle/>
            <a:p>
              <a:endParaRPr lang="zh-CN" altLang="en-US" dirty="0"/>
            </a:p>
          </p:txBody>
        </p:sp>
        <p:sp>
          <p:nvSpPr>
            <p:cNvPr id="37" name="BlockLabel"/>
            <p:cNvSpPr txBox="1"/>
            <p:nvPr/>
          </p:nvSpPr>
          <p:spPr>
            <a:xfrm>
              <a:off x="8594000" y="1565606"/>
              <a:ext cx="920000" cy="261610"/>
            </a:xfrm>
            <a:prstGeom prst="rect">
              <a:avLst/>
            </a:prstGeom>
            <a:noFill/>
            <a:ln>
              <a:noFill/>
            </a:ln>
          </p:spPr>
          <p:txBody>
            <a:bodyPr wrap="square" anchor="t">
              <a:spAutoFit/>
            </a:bodyPr>
            <a:lstStyle/>
            <a:p>
              <a:pPr algn="l">
                <a:spcAft>
                  <a:spcPts val="100"/>
                </a:spcAft>
              </a:pPr>
              <a:r>
                <a:rPr lang="zh-CN" altLang="en-US" sz="1100" i="1" dirty="0">
                  <a:solidFill>
                    <a:srgbClr val="CC2222"/>
                  </a:solidFill>
                </a:rPr>
                <a:t>REJECTED</a:t>
              </a:r>
              <a:r>
                <a:rPr lang="en-US" altLang="zh-CN" sz="1100" i="1" dirty="0">
                  <a:solidFill>
                    <a:srgbClr val="CC2222"/>
                  </a:solidFill>
                </a:rPr>
                <a:t> </a:t>
              </a:r>
              <a:endParaRPr lang="zh-CN" altLang="en-US" sz="1100" i="1" dirty="0">
                <a:solidFill>
                  <a:srgbClr val="CC2222"/>
                </a:solidFill>
              </a:endParaRPr>
            </a:p>
          </p:txBody>
        </p:sp>
      </p:grpSp>
      <p:sp>
        <p:nvSpPr>
          <p:cNvPr id="38" name="InjLabel"/>
          <p:cNvSpPr txBox="1"/>
          <p:nvPr/>
        </p:nvSpPr>
        <p:spPr>
          <a:xfrm>
            <a:off x="5173145" y="1944661"/>
            <a:ext cx="2117182" cy="276999"/>
          </a:xfrm>
          <a:prstGeom prst="rect">
            <a:avLst/>
          </a:prstGeom>
          <a:solidFill>
            <a:srgbClr val="FFEEEE"/>
          </a:solidFill>
          <a:ln w="9525">
            <a:solidFill>
              <a:srgbClr val="CC2222"/>
            </a:solidFill>
          </a:ln>
        </p:spPr>
        <p:txBody>
          <a:bodyPr wrap="square" anchor="t">
            <a:spAutoFit/>
          </a:bodyPr>
          <a:lstStyle/>
          <a:p>
            <a:pPr algn="l">
              <a:spcAft>
                <a:spcPts val="100"/>
              </a:spcAft>
            </a:pPr>
            <a:r>
              <a:rPr lang="zh-CN" altLang="en-US" sz="1200" b="1" dirty="0">
                <a:solidFill>
                  <a:srgbClr val="CC2222"/>
                </a:solidFill>
              </a:rPr>
              <a:t>注入攻击↑  (工具返回值投毒)</a:t>
            </a:r>
          </a:p>
        </p:txBody>
      </p:sp>
      <p:sp>
        <p:nvSpPr>
          <p:cNvPr id="50" name="L1Header"/>
          <p:cNvSpPr txBox="1"/>
          <p:nvPr/>
        </p:nvSpPr>
        <p:spPr>
          <a:xfrm>
            <a:off x="310000" y="2940000"/>
            <a:ext cx="5696000" cy="400000"/>
          </a:xfrm>
          <a:prstGeom prst="rect">
            <a:avLst/>
          </a:prstGeom>
          <a:solidFill>
            <a:srgbClr val="8E1728"/>
          </a:solidFill>
          <a:ln>
            <a:noFill/>
          </a:ln>
        </p:spPr>
        <p:txBody>
          <a:bodyPr wrap="square" anchor="t">
            <a:spAutoFit/>
          </a:bodyPr>
          <a:lstStyle/>
          <a:p>
            <a:pPr algn="l">
              <a:spcAft>
                <a:spcPts val="100"/>
              </a:spcAft>
            </a:pPr>
            <a:r>
              <a:rPr lang="zh-CN" altLang="en-US" sz="1900" b="1" dirty="0">
                <a:solidFill>
                  <a:srgbClr val="FFFFFF"/>
                </a:solidFill>
              </a:rPr>
              <a:t>L1  规则层 · SAR-Inspired Filter</a:t>
            </a:r>
          </a:p>
          <a:p>
            <a:pPr algn="l"/>
            <a:endParaRPr lang="zh-CN" altLang="en-US" sz="1900" b="1" dirty="0">
              <a:solidFill>
                <a:srgbClr val="FFFFFF"/>
              </a:solidFill>
            </a:endParaRPr>
          </a:p>
        </p:txBody>
      </p:sp>
      <p:sp>
        <p:nvSpPr>
          <p:cNvPr id="51" name="R1_0"/>
          <p:cNvSpPr txBox="1"/>
          <p:nvPr/>
        </p:nvSpPr>
        <p:spPr>
          <a:xfrm>
            <a:off x="310000" y="3360000"/>
            <a:ext cx="5696000" cy="700000"/>
          </a:xfrm>
          <a:prstGeom prst="rect">
            <a:avLst/>
          </a:prstGeom>
          <a:solidFill>
            <a:srgbClr val="FDF5F5"/>
          </a:solidFill>
          <a:ln w="9525">
            <a:solidFill>
              <a:srgbClr val="E0D0D0"/>
            </a:solidFill>
          </a:ln>
        </p:spPr>
        <p:txBody>
          <a:bodyPr wrap="square" anchor="t">
            <a:spAutoFit/>
          </a:bodyPr>
          <a:lstStyle/>
          <a:p>
            <a:pPr algn="l">
              <a:spcAft>
                <a:spcPts val="40"/>
              </a:spcAft>
            </a:pPr>
            <a:r>
              <a:rPr lang="en-US" altLang="zh-CN" sz="1600" b="1" dirty="0">
                <a:solidFill>
                  <a:srgbClr val="8E1728"/>
                </a:solidFill>
                <a:latin typeface="Arial" pitchFamily="34" charset="0"/>
              </a:rPr>
              <a:t>r₁</a:t>
            </a:r>
          </a:p>
          <a:p>
            <a:pPr algn="l"/>
            <a:r>
              <a:rPr lang="zh-CN" altLang="en-US" sz="1400" dirty="0">
                <a:solidFill>
                  <a:srgbClr val="333333"/>
                </a:solidFill>
              </a:rPr>
              <a:t>[system_message] + 资金转移意图  →  REJECT</a:t>
            </a:r>
          </a:p>
        </p:txBody>
      </p:sp>
      <p:sp>
        <p:nvSpPr>
          <p:cNvPr id="52" name="R1_1"/>
          <p:cNvSpPr txBox="1"/>
          <p:nvPr/>
        </p:nvSpPr>
        <p:spPr>
          <a:xfrm>
            <a:off x="310000" y="4140000"/>
            <a:ext cx="5696000" cy="700000"/>
          </a:xfrm>
          <a:prstGeom prst="rect">
            <a:avLst/>
          </a:prstGeom>
          <a:solidFill>
            <a:srgbClr val="FDF5F5"/>
          </a:solidFill>
          <a:ln w="9525">
            <a:solidFill>
              <a:srgbClr val="E0D0D0"/>
            </a:solidFill>
          </a:ln>
        </p:spPr>
        <p:txBody>
          <a:bodyPr wrap="square" anchor="t">
            <a:spAutoFit/>
          </a:bodyPr>
          <a:lstStyle/>
          <a:p>
            <a:pPr algn="l">
              <a:spcAft>
                <a:spcPts val="40"/>
              </a:spcAft>
            </a:pPr>
            <a:r>
              <a:rPr lang="en-US" altLang="zh-CN" sz="1600" b="1" dirty="0">
                <a:solidFill>
                  <a:srgbClr val="8E1728"/>
                </a:solidFill>
                <a:latin typeface="Arial" pitchFamily="34" charset="0"/>
              </a:rPr>
              <a:t>r₂</a:t>
            </a:r>
          </a:p>
          <a:p>
            <a:pPr algn="l"/>
            <a:r>
              <a:rPr lang="zh-CN" altLang="en-US" sz="1400" dirty="0">
                <a:solidFill>
                  <a:srgbClr val="333333"/>
                </a:solidFill>
              </a:rPr>
              <a:t>URGENT_ACTION_REQUIRED 标记  →  REJECT</a:t>
            </a:r>
          </a:p>
        </p:txBody>
      </p:sp>
      <p:sp>
        <p:nvSpPr>
          <p:cNvPr id="53" name="R1_2"/>
          <p:cNvSpPr txBox="1"/>
          <p:nvPr/>
        </p:nvSpPr>
        <p:spPr>
          <a:xfrm>
            <a:off x="310000" y="4920000"/>
            <a:ext cx="5696000" cy="700000"/>
          </a:xfrm>
          <a:prstGeom prst="rect">
            <a:avLst/>
          </a:prstGeom>
          <a:solidFill>
            <a:srgbClr val="FDF5F5"/>
          </a:solidFill>
          <a:ln w="9525">
            <a:solidFill>
              <a:srgbClr val="E0D0D0"/>
            </a:solidFill>
          </a:ln>
        </p:spPr>
        <p:txBody>
          <a:bodyPr wrap="square" anchor="t">
            <a:spAutoFit/>
          </a:bodyPr>
          <a:lstStyle/>
          <a:p>
            <a:pPr algn="l">
              <a:spcAft>
                <a:spcPts val="40"/>
              </a:spcAft>
            </a:pPr>
            <a:r>
              <a:rPr lang="en-US" altLang="zh-CN" sz="1600" b="1" dirty="0">
                <a:solidFill>
                  <a:srgbClr val="8E1728"/>
                </a:solidFill>
                <a:latin typeface="Arial" pitchFamily="34" charset="0"/>
              </a:rPr>
              <a:t>r₃</a:t>
            </a:r>
          </a:p>
          <a:p>
            <a:pPr algn="l"/>
            <a:r>
              <a:rPr lang="zh-CN" altLang="en-US" sz="1400" dirty="0">
                <a:solidFill>
                  <a:srgbClr val="333333"/>
                </a:solidFill>
              </a:rPr>
              <a:t>override / bypass 关键词  →  REJECT</a:t>
            </a:r>
          </a:p>
        </p:txBody>
      </p:sp>
      <p:sp>
        <p:nvSpPr>
          <p:cNvPr id="55" name="L1Note"/>
          <p:cNvSpPr txBox="1"/>
          <p:nvPr/>
        </p:nvSpPr>
        <p:spPr>
          <a:xfrm>
            <a:off x="310000" y="5700000"/>
            <a:ext cx="5696000" cy="280000"/>
          </a:xfrm>
          <a:prstGeom prst="rect">
            <a:avLst/>
          </a:prstGeom>
          <a:solidFill>
            <a:srgbClr val="F8F2F2"/>
          </a:solidFill>
          <a:ln w="9525">
            <a:solidFill>
              <a:srgbClr val="E0D0D0"/>
            </a:solidFill>
          </a:ln>
        </p:spPr>
        <p:txBody>
          <a:bodyPr wrap="square" anchor="t">
            <a:spAutoFit/>
          </a:bodyPr>
          <a:lstStyle/>
          <a:p>
            <a:pPr algn="l">
              <a:spcAft>
                <a:spcPts val="100"/>
              </a:spcAft>
            </a:pPr>
            <a:r>
              <a:rPr lang="zh-CN" altLang="en-US" sz="1250" i="1" dirty="0">
                <a:solidFill>
                  <a:srgbClr val="8E1728"/>
                </a:solidFill>
              </a:rPr>
              <a:t>纯字符串匹配，常数时间 O(1)，无需 LLM 推理</a:t>
            </a:r>
          </a:p>
        </p:txBody>
      </p:sp>
      <p:sp>
        <p:nvSpPr>
          <p:cNvPr id="60" name="L2Header"/>
          <p:cNvSpPr txBox="1"/>
          <p:nvPr/>
        </p:nvSpPr>
        <p:spPr>
          <a:xfrm>
            <a:off x="6206000" y="2940000"/>
            <a:ext cx="5696000" cy="400000"/>
          </a:xfrm>
          <a:prstGeom prst="rect">
            <a:avLst/>
          </a:prstGeom>
          <a:solidFill>
            <a:srgbClr val="6B3A3A"/>
          </a:solidFill>
          <a:ln>
            <a:noFill/>
          </a:ln>
        </p:spPr>
        <p:txBody>
          <a:bodyPr wrap="square" anchor="t">
            <a:spAutoFit/>
          </a:bodyPr>
          <a:lstStyle/>
          <a:p>
            <a:pPr algn="l">
              <a:spcAft>
                <a:spcPts val="100"/>
              </a:spcAft>
            </a:pPr>
            <a:r>
              <a:rPr lang="zh-CN" altLang="en-US" sz="1900" b="1" dirty="0">
                <a:solidFill>
                  <a:srgbClr val="FFFFFF"/>
                </a:solidFill>
              </a:rPr>
              <a:t>L2  语义层 · LLM Semantic Audit</a:t>
            </a:r>
          </a:p>
        </p:txBody>
      </p:sp>
      <p:sp>
        <p:nvSpPr>
          <p:cNvPr id="61" name="R2_0"/>
          <p:cNvSpPr txBox="1"/>
          <p:nvPr/>
        </p:nvSpPr>
        <p:spPr>
          <a:xfrm>
            <a:off x="6206000" y="3360000"/>
            <a:ext cx="5696000" cy="530000"/>
          </a:xfrm>
          <a:prstGeom prst="rect">
            <a:avLst/>
          </a:prstGeom>
          <a:solidFill>
            <a:srgbClr val="FDF5F5"/>
          </a:solidFill>
          <a:ln w="9525">
            <a:solidFill>
              <a:srgbClr val="E0D0D0"/>
            </a:solidFill>
          </a:ln>
        </p:spPr>
        <p:txBody>
          <a:bodyPr wrap="square" anchor="t">
            <a:spAutoFit/>
          </a:bodyPr>
          <a:lstStyle/>
          <a:p>
            <a:pPr algn="l">
              <a:spcAft>
                <a:spcPts val="30"/>
              </a:spcAft>
            </a:pPr>
            <a:r>
              <a:rPr lang="en-US" altLang="zh-CN" sz="1500" b="1" dirty="0">
                <a:solidFill>
                  <a:srgbClr val="6B3A3A"/>
                </a:solidFill>
                <a:latin typeface="Arial" pitchFamily="34" charset="0"/>
              </a:rPr>
              <a:t>s₁</a:t>
            </a:r>
          </a:p>
          <a:p>
            <a:pPr algn="l"/>
            <a:r>
              <a:rPr lang="zh-CN" altLang="en-US" sz="1350" dirty="0">
                <a:solidFill>
                  <a:srgbClr val="333333"/>
                </a:solidFill>
              </a:rPr>
              <a:t>Thinker 评估风险等级 = HIGH  →  REJECT</a:t>
            </a:r>
          </a:p>
        </p:txBody>
      </p:sp>
      <p:sp>
        <p:nvSpPr>
          <p:cNvPr id="62" name="R2_1"/>
          <p:cNvSpPr txBox="1"/>
          <p:nvPr/>
        </p:nvSpPr>
        <p:spPr>
          <a:xfrm>
            <a:off x="6206000" y="3960000"/>
            <a:ext cx="5696000" cy="530000"/>
          </a:xfrm>
          <a:prstGeom prst="rect">
            <a:avLst/>
          </a:prstGeom>
          <a:solidFill>
            <a:srgbClr val="FDF5F5"/>
          </a:solidFill>
          <a:ln w="9525">
            <a:solidFill>
              <a:srgbClr val="E0D0D0"/>
            </a:solidFill>
          </a:ln>
        </p:spPr>
        <p:txBody>
          <a:bodyPr wrap="square" anchor="t">
            <a:spAutoFit/>
          </a:bodyPr>
          <a:lstStyle/>
          <a:p>
            <a:pPr algn="l">
              <a:spcAft>
                <a:spcPts val="30"/>
              </a:spcAft>
            </a:pPr>
            <a:r>
              <a:rPr lang="en-US" altLang="zh-CN" sz="1500" b="1" dirty="0">
                <a:solidFill>
                  <a:srgbClr val="6B3A3A"/>
                </a:solidFill>
                <a:latin typeface="Arial" pitchFamily="34" charset="0"/>
              </a:rPr>
              <a:t>s₂</a:t>
            </a:r>
          </a:p>
          <a:p>
            <a:pPr algn="l"/>
            <a:r>
              <a:rPr lang="zh-CN" altLang="en-US" sz="1350" dirty="0">
                <a:solidFill>
                  <a:srgbClr val="333333"/>
                </a:solidFill>
              </a:rPr>
              <a:t>Thinker 推荐动作 = Reject  →  REJECT</a:t>
            </a:r>
          </a:p>
        </p:txBody>
      </p:sp>
      <p:sp>
        <p:nvSpPr>
          <p:cNvPr id="63" name="R2_2"/>
          <p:cNvSpPr txBox="1"/>
          <p:nvPr/>
        </p:nvSpPr>
        <p:spPr>
          <a:xfrm>
            <a:off x="6206000" y="4560000"/>
            <a:ext cx="5696000" cy="530000"/>
          </a:xfrm>
          <a:prstGeom prst="rect">
            <a:avLst/>
          </a:prstGeom>
          <a:solidFill>
            <a:srgbClr val="FDF5F5"/>
          </a:solidFill>
          <a:ln w="9525">
            <a:solidFill>
              <a:srgbClr val="E0D0D0"/>
            </a:solidFill>
          </a:ln>
        </p:spPr>
        <p:txBody>
          <a:bodyPr wrap="square" anchor="t">
            <a:spAutoFit/>
          </a:bodyPr>
          <a:lstStyle/>
          <a:p>
            <a:pPr algn="l">
              <a:spcAft>
                <a:spcPts val="30"/>
              </a:spcAft>
            </a:pPr>
            <a:r>
              <a:rPr lang="en-US" altLang="zh-CN" sz="1500" b="1" dirty="0">
                <a:solidFill>
                  <a:srgbClr val="6B3A3A"/>
                </a:solidFill>
                <a:latin typeface="Arial" pitchFamily="34" charset="0"/>
              </a:rPr>
              <a:t>s₃</a:t>
            </a:r>
          </a:p>
          <a:p>
            <a:pPr algn="l"/>
            <a:r>
              <a:rPr lang="zh-CN" altLang="en-US" sz="1350" dirty="0">
                <a:solidFill>
                  <a:srgbClr val="333333"/>
                </a:solidFill>
              </a:rPr>
              <a:t>外部转账操作请求  →  REJECT</a:t>
            </a:r>
          </a:p>
        </p:txBody>
      </p:sp>
      <p:sp>
        <p:nvSpPr>
          <p:cNvPr id="64" name="R2_3"/>
          <p:cNvSpPr txBox="1"/>
          <p:nvPr/>
        </p:nvSpPr>
        <p:spPr>
          <a:xfrm>
            <a:off x="6206000" y="5160000"/>
            <a:ext cx="5696000" cy="530000"/>
          </a:xfrm>
          <a:prstGeom prst="rect">
            <a:avLst/>
          </a:prstGeom>
          <a:solidFill>
            <a:srgbClr val="FDF5F5"/>
          </a:solidFill>
          <a:ln w="9525">
            <a:solidFill>
              <a:srgbClr val="E0D0D0"/>
            </a:solidFill>
          </a:ln>
        </p:spPr>
        <p:txBody>
          <a:bodyPr wrap="square" anchor="t">
            <a:spAutoFit/>
          </a:bodyPr>
          <a:lstStyle/>
          <a:p>
            <a:pPr algn="l">
              <a:spcAft>
                <a:spcPts val="30"/>
              </a:spcAft>
            </a:pPr>
            <a:r>
              <a:rPr lang="en-US" altLang="zh-CN" sz="1500" b="1" dirty="0">
                <a:solidFill>
                  <a:srgbClr val="6B3A3A"/>
                </a:solidFill>
                <a:latin typeface="Arial" pitchFamily="34" charset="0"/>
              </a:rPr>
              <a:t>s₄</a:t>
            </a:r>
          </a:p>
          <a:p>
            <a:pPr algn="l"/>
            <a:r>
              <a:rPr lang="zh-CN" altLang="en-US" sz="1350" dirty="0">
                <a:solidFill>
                  <a:srgbClr val="333333"/>
                </a:solidFill>
              </a:rPr>
              <a:t>其他情况  →  APPROVE</a:t>
            </a:r>
          </a:p>
        </p:txBody>
      </p:sp>
      <p:sp>
        <p:nvSpPr>
          <p:cNvPr id="66" name="L2Note"/>
          <p:cNvSpPr txBox="1"/>
          <p:nvPr/>
        </p:nvSpPr>
        <p:spPr>
          <a:xfrm>
            <a:off x="6206000" y="5760000"/>
            <a:ext cx="5696000" cy="280000"/>
          </a:xfrm>
          <a:prstGeom prst="rect">
            <a:avLst/>
          </a:prstGeom>
          <a:solidFill>
            <a:srgbClr val="F8F2F2"/>
          </a:solidFill>
          <a:ln w="9525">
            <a:solidFill>
              <a:srgbClr val="E0D0D0"/>
            </a:solidFill>
          </a:ln>
        </p:spPr>
        <p:txBody>
          <a:bodyPr wrap="square" anchor="t">
            <a:spAutoFit/>
          </a:bodyPr>
          <a:lstStyle/>
          <a:p>
            <a:pPr algn="l">
              <a:spcAft>
                <a:spcPts val="100"/>
              </a:spcAft>
            </a:pPr>
            <a:r>
              <a:rPr lang="zh-CN" altLang="en-US" sz="1250" i="1" dirty="0">
                <a:solidFill>
                  <a:srgbClr val="6B3A3A"/>
                </a:solidFill>
              </a:rPr>
              <a:t>复用 Thinker 输出 T(q) 为语义上下文，无额外推理开销</a:t>
            </a:r>
          </a:p>
        </p:txBody>
      </p:sp>
      <p:sp>
        <p:nvSpPr>
          <p:cNvPr id="70" name="KPI0"/>
          <p:cNvSpPr txBox="1"/>
          <p:nvPr/>
        </p:nvSpPr>
        <p:spPr>
          <a:xfrm>
            <a:off x="300000" y="6108000"/>
            <a:ext cx="2838000" cy="550000"/>
          </a:xfrm>
          <a:prstGeom prst="rect">
            <a:avLst/>
          </a:prstGeom>
          <a:solidFill>
            <a:srgbClr val="8E1728"/>
          </a:solidFill>
          <a:ln>
            <a:noFill/>
          </a:ln>
        </p:spPr>
        <p:txBody>
          <a:bodyPr wrap="square" anchor="t">
            <a:spAutoFit/>
          </a:bodyPr>
          <a:lstStyle/>
          <a:p>
            <a:pPr algn="ctr">
              <a:spcAft>
                <a:spcPts val="30"/>
              </a:spcAft>
            </a:pPr>
            <a:r>
              <a:rPr lang="en-US" altLang="zh-CN" sz="1600" b="1" dirty="0">
                <a:solidFill>
                  <a:srgbClr val="FFFFFF"/>
                </a:solidFill>
                <a:latin typeface="Arial" pitchFamily="34" charset="0"/>
              </a:rPr>
              <a:t>DER = 0%</a:t>
            </a:r>
          </a:p>
          <a:p>
            <a:pPr algn="ctr">
              <a:spcAft>
                <a:spcPts val="100"/>
              </a:spcAft>
            </a:pPr>
            <a:r>
              <a:rPr lang="zh-CN" altLang="en-US" sz="1200" dirty="0">
                <a:solidFill>
                  <a:srgbClr val="FFCCCC"/>
                </a:solidFill>
              </a:rPr>
              <a:t>零危险执行</a:t>
            </a:r>
          </a:p>
        </p:txBody>
      </p:sp>
      <p:sp>
        <p:nvSpPr>
          <p:cNvPr id="71" name="KPI1"/>
          <p:cNvSpPr txBox="1"/>
          <p:nvPr/>
        </p:nvSpPr>
        <p:spPr>
          <a:xfrm>
            <a:off x="3218000" y="6108000"/>
            <a:ext cx="2838000" cy="550000"/>
          </a:xfrm>
          <a:prstGeom prst="rect">
            <a:avLst/>
          </a:prstGeom>
          <a:solidFill>
            <a:srgbClr val="8E1728"/>
          </a:solidFill>
          <a:ln>
            <a:noFill/>
          </a:ln>
        </p:spPr>
        <p:txBody>
          <a:bodyPr wrap="square" anchor="t">
            <a:spAutoFit/>
          </a:bodyPr>
          <a:lstStyle/>
          <a:p>
            <a:pPr algn="ctr">
              <a:spcAft>
                <a:spcPts val="30"/>
              </a:spcAft>
            </a:pPr>
            <a:r>
              <a:rPr lang="en-US" altLang="zh-CN" sz="1600" b="1" dirty="0">
                <a:solidFill>
                  <a:srgbClr val="FFFFFF"/>
                </a:solidFill>
                <a:latin typeface="Arial" pitchFamily="34" charset="0"/>
              </a:rPr>
              <a:t>FRR = 0%</a:t>
            </a:r>
          </a:p>
          <a:p>
            <a:pPr algn="ctr">
              <a:spcAft>
                <a:spcPts val="100"/>
              </a:spcAft>
            </a:pPr>
            <a:r>
              <a:rPr lang="zh-CN" altLang="en-US" sz="1200" dirty="0">
                <a:solidFill>
                  <a:srgbClr val="FFCCCC"/>
                </a:solidFill>
              </a:rPr>
              <a:t>零误拒率</a:t>
            </a:r>
          </a:p>
        </p:txBody>
      </p:sp>
      <mc:AlternateContent xmlns:mc="http://schemas.openxmlformats.org/markup-compatibility/2006" xmlns:a14="http://schemas.microsoft.com/office/drawing/2010/main">
        <mc:Choice Requires="a14">
          <p:sp>
            <p:nvSpPr>
              <p:cNvPr id="72" name="KPI2"/>
              <p:cNvSpPr txBox="1"/>
              <p:nvPr/>
            </p:nvSpPr>
            <p:spPr>
              <a:xfrm>
                <a:off x="6136000" y="6108000"/>
                <a:ext cx="2838000" cy="523220"/>
              </a:xfrm>
              <a:prstGeom prst="rect">
                <a:avLst/>
              </a:prstGeom>
              <a:solidFill>
                <a:srgbClr val="8E1728"/>
              </a:solidFill>
              <a:ln>
                <a:noFill/>
              </a:ln>
            </p:spPr>
            <p:txBody>
              <a:bodyPr wrap="square" anchor="t">
                <a:spAutoFit/>
              </a:bodyPr>
              <a:lstStyle/>
              <a:p>
                <a:pPr algn="ctr">
                  <a:spcAft>
                    <a:spcPts val="30"/>
                  </a:spcAft>
                </a:pPr>
                <a14:m>
                  <m:oMath xmlns:m="http://schemas.openxmlformats.org/officeDocument/2006/math">
                    <m:sSup>
                      <m:sSupPr>
                        <m:ctrlPr>
                          <a:rPr lang="en-US" altLang="zh-CN" sz="1600" b="1" i="1" dirty="0" smtClean="0">
                            <a:solidFill>
                              <a:srgbClr val="FFFFFF"/>
                            </a:solidFill>
                            <a:latin typeface="Cambria Math" panose="02040503050406030204" pitchFamily="18" charset="0"/>
                          </a:rPr>
                        </m:ctrlPr>
                      </m:sSupPr>
                      <m:e>
                        <m:r>
                          <a:rPr lang="en-US" altLang="zh-CN" sz="1600" b="1" i="1" dirty="0">
                            <a:solidFill>
                              <a:srgbClr val="FFFFFF"/>
                            </a:solidFill>
                            <a:latin typeface="Cambria Math" panose="02040503050406030204" pitchFamily="18" charset="0"/>
                          </a:rPr>
                          <m:t>𝑻</m:t>
                        </m:r>
                      </m:e>
                      <m:sup>
                        <m:r>
                          <a:rPr lang="zh-CN" altLang="en-US" sz="1600" b="1" i="1" dirty="0" smtClean="0">
                            <a:solidFill>
                              <a:srgbClr val="FFFFFF"/>
                            </a:solidFill>
                            <a:latin typeface="Cambria Math" panose="02040503050406030204" pitchFamily="18" charset="0"/>
                          </a:rPr>
                          <m:t>∗</m:t>
                        </m:r>
                      </m:sup>
                    </m:sSup>
                    <m:r>
                      <a:rPr lang="en-US" altLang="zh-CN" sz="1600" b="1" i="1" baseline="-25000" dirty="0">
                        <a:solidFill>
                          <a:srgbClr val="FFFFFF"/>
                        </a:solidFill>
                        <a:latin typeface="Cambria Math" panose="02040503050406030204" pitchFamily="18" charset="0"/>
                      </a:rPr>
                      <m:t>𝑺𝑼</m:t>
                    </m:r>
                  </m:oMath>
                </a14:m>
                <a:r>
                  <a:rPr lang="en-US" altLang="zh-CN" sz="1600" b="1" dirty="0">
                    <a:solidFill>
                      <a:srgbClr val="FFFFFF"/>
                    </a:solidFill>
                    <a:latin typeface="Arial" pitchFamily="34" charset="0"/>
                  </a:rPr>
                  <a:t>= 1.000</a:t>
                </a:r>
              </a:p>
              <a:p>
                <a:pPr algn="ctr">
                  <a:spcAft>
                    <a:spcPts val="100"/>
                  </a:spcAft>
                </a:pPr>
                <a:r>
                  <a:rPr lang="zh-CN" altLang="en-US" sz="1200" dirty="0">
                    <a:solidFill>
                      <a:srgbClr val="FFCCCC"/>
                    </a:solidFill>
                  </a:rPr>
                  <a:t>安全可用性满分</a:t>
                </a:r>
              </a:p>
            </p:txBody>
          </p:sp>
        </mc:Choice>
        <mc:Fallback xmlns="">
          <p:sp>
            <p:nvSpPr>
              <p:cNvPr id="72" name="KPI2"/>
              <p:cNvSpPr txBox="1">
                <a:spLocks noRot="1" noChangeAspect="1" noMove="1" noResize="1" noEditPoints="1" noAdjustHandles="1" noChangeArrowheads="1" noChangeShapeType="1" noTextEdit="1"/>
              </p:cNvSpPr>
              <p:nvPr/>
            </p:nvSpPr>
            <p:spPr>
              <a:xfrm>
                <a:off x="6136000" y="6108000"/>
                <a:ext cx="2838000" cy="523220"/>
              </a:xfrm>
              <a:prstGeom prst="rect">
                <a:avLst/>
              </a:prstGeom>
              <a:blipFill>
                <a:blip r:embed="rId3"/>
                <a:stretch>
                  <a:fillRect t="-2326" b="-4651"/>
                </a:stretch>
              </a:blipFill>
              <a:ln>
                <a:noFill/>
              </a:ln>
            </p:spPr>
            <p:txBody>
              <a:bodyPr/>
              <a:lstStyle/>
              <a:p>
                <a:r>
                  <a:rPr lang="zh-CN" altLang="en-US">
                    <a:noFill/>
                  </a:rPr>
                  <a:t> </a:t>
                </a:r>
              </a:p>
            </p:txBody>
          </p:sp>
        </mc:Fallback>
      </mc:AlternateContent>
      <p:sp>
        <p:nvSpPr>
          <p:cNvPr id="73" name="KPI3"/>
          <p:cNvSpPr txBox="1"/>
          <p:nvPr/>
        </p:nvSpPr>
        <p:spPr>
          <a:xfrm>
            <a:off x="9054000" y="6108000"/>
            <a:ext cx="2838000" cy="523220"/>
          </a:xfrm>
          <a:prstGeom prst="rect">
            <a:avLst/>
          </a:prstGeom>
          <a:solidFill>
            <a:srgbClr val="8E1728"/>
          </a:solidFill>
          <a:ln>
            <a:noFill/>
          </a:ln>
        </p:spPr>
        <p:txBody>
          <a:bodyPr wrap="square" anchor="t">
            <a:spAutoFit/>
          </a:bodyPr>
          <a:lstStyle/>
          <a:p>
            <a:pPr algn="ctr">
              <a:spcAft>
                <a:spcPts val="30"/>
              </a:spcAft>
            </a:pPr>
            <a:r>
              <a:rPr lang="en-US" altLang="zh-CN" sz="1600" b="1" i="1" dirty="0" err="1">
                <a:solidFill>
                  <a:srgbClr val="FFFFFF"/>
                </a:solidFill>
                <a:latin typeface="Arial" pitchFamily="34" charset="0"/>
              </a:rPr>
              <a:t>T</a:t>
            </a:r>
            <a:r>
              <a:rPr lang="en-US" altLang="zh-CN" sz="1600" b="1" i="1" baseline="30000" dirty="0" err="1">
                <a:solidFill>
                  <a:srgbClr val="FFFFFF"/>
                </a:solidFill>
                <a:latin typeface="Arial" pitchFamily="34" charset="0"/>
              </a:rPr>
              <a:t>h</a:t>
            </a:r>
            <a:r>
              <a:rPr lang="en-US" altLang="zh-CN" sz="1600" b="1" i="1" baseline="-25000" dirty="0" err="1">
                <a:solidFill>
                  <a:srgbClr val="FFFFFF"/>
                </a:solidFill>
                <a:latin typeface="Arial" pitchFamily="34" charset="0"/>
              </a:rPr>
              <a:t>SU</a:t>
            </a:r>
            <a:r>
              <a:rPr lang="en-US" altLang="zh-CN" sz="1600" b="1" i="1" dirty="0">
                <a:solidFill>
                  <a:srgbClr val="FFFFFF"/>
                </a:solidFill>
                <a:latin typeface="Arial" pitchFamily="34" charset="0"/>
              </a:rPr>
              <a:t> </a:t>
            </a:r>
            <a:r>
              <a:rPr lang="en-US" altLang="zh-CN" sz="1600" b="1" dirty="0">
                <a:solidFill>
                  <a:srgbClr val="FFFFFF"/>
                </a:solidFill>
                <a:latin typeface="Arial" pitchFamily="34" charset="0"/>
              </a:rPr>
              <a:t>= 1.000</a:t>
            </a:r>
          </a:p>
          <a:p>
            <a:pPr algn="ctr">
              <a:spcAft>
                <a:spcPts val="100"/>
              </a:spcAft>
            </a:pPr>
            <a:r>
              <a:rPr lang="zh-CN" altLang="en-US" sz="1200" dirty="0">
                <a:solidFill>
                  <a:srgbClr val="FFCCCC"/>
                </a:solidFill>
              </a:rPr>
              <a:t>调和均值最优</a:t>
            </a:r>
          </a:p>
        </p:txBody>
      </p:sp>
      <p:pic>
        <p:nvPicPr>
          <p:cNvPr id="4" name="Picture 2">
            <a:extLst>
              <a:ext uri="{FF2B5EF4-FFF2-40B4-BE49-F238E27FC236}">
                <a16:creationId xmlns:a16="http://schemas.microsoft.com/office/drawing/2014/main" id="{FBF7086F-3A6F-83D3-9C7B-4D6600D01E6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1633"/>
          <a:stretch>
            <a:fillRect/>
          </a:stretch>
        </p:blipFill>
        <p:spPr bwMode="auto">
          <a:xfrm>
            <a:off x="11043556" y="0"/>
            <a:ext cx="1148442" cy="659568"/>
          </a:xfrm>
          <a:prstGeom prst="rect">
            <a:avLst/>
          </a:prstGeom>
          <a:noFill/>
          <a:extLst>
            <a:ext uri="{909E8E84-426E-40DD-AFC4-6F175D3DCCD1}">
              <a14:hiddenFill xmlns:a14="http://schemas.microsoft.com/office/drawing/2010/main">
                <a:solidFill>
                  <a:srgbClr val="FFFFFF"/>
                </a:solidFill>
              </a14:hiddenFill>
            </a:ext>
          </a:extLst>
        </p:spPr>
      </p:pic>
      <p:sp>
        <p:nvSpPr>
          <p:cNvPr id="6" name="上箭头 5">
            <a:extLst>
              <a:ext uri="{FF2B5EF4-FFF2-40B4-BE49-F238E27FC236}">
                <a16:creationId xmlns:a16="http://schemas.microsoft.com/office/drawing/2014/main" id="{172F43D1-47F1-D3AB-5B52-ED2BA1693FA7}"/>
              </a:ext>
            </a:extLst>
          </p:cNvPr>
          <p:cNvSpPr/>
          <p:nvPr/>
        </p:nvSpPr>
        <p:spPr>
          <a:xfrm>
            <a:off x="6052466" y="1761718"/>
            <a:ext cx="152343" cy="135506"/>
          </a:xfrm>
          <a:prstGeom prst="upArrow">
            <a:avLst/>
          </a:prstGeom>
          <a:solidFill>
            <a:srgbClr val="EE97A6"/>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 name="文本框 6">
            <a:extLst>
              <a:ext uri="{FF2B5EF4-FFF2-40B4-BE49-F238E27FC236}">
                <a16:creationId xmlns:a16="http://schemas.microsoft.com/office/drawing/2014/main" id="{CADF151D-83B6-1D91-389E-34114DB9171F}"/>
              </a:ext>
            </a:extLst>
          </p:cNvPr>
          <p:cNvSpPr txBox="1"/>
          <p:nvPr/>
        </p:nvSpPr>
        <p:spPr>
          <a:xfrm>
            <a:off x="168024" y="2413263"/>
            <a:ext cx="2063951" cy="369332"/>
          </a:xfrm>
          <a:prstGeom prst="rect">
            <a:avLst/>
          </a:prstGeom>
          <a:noFill/>
          <a:ln w="22225">
            <a:noFill/>
          </a:ln>
        </p:spPr>
        <p:txBody>
          <a:bodyPr wrap="square" rtlCol="0">
            <a:spAutoFit/>
          </a:bodyPr>
          <a:lstStyle/>
          <a:p>
            <a:r>
              <a:rPr lang="zh-CN" altLang="en-US" b="1" dirty="0">
                <a:solidFill>
                  <a:schemeClr val="bg2">
                    <a:lumMod val="50000"/>
                  </a:schemeClr>
                </a:solidFill>
              </a:rPr>
              <a:t>⚡ </a:t>
            </a:r>
            <a:r>
              <a:rPr lang="zh-CN" altLang="en-US" b="1" dirty="0"/>
              <a:t>Security Valve</a:t>
            </a:r>
            <a:endParaRPr lang="zh-CN" altLang="en-US" b="1" dirty="0">
              <a:solidFill>
                <a:schemeClr val="bg2">
                  <a:lumMod val="50000"/>
                </a:schemeClr>
              </a:solidFill>
            </a:endParaRPr>
          </a:p>
        </p:txBody>
      </p:sp>
      <p:sp>
        <p:nvSpPr>
          <p:cNvPr id="9" name="文本框 8">
            <a:extLst>
              <a:ext uri="{FF2B5EF4-FFF2-40B4-BE49-F238E27FC236}">
                <a16:creationId xmlns:a16="http://schemas.microsoft.com/office/drawing/2014/main" id="{058948F3-5974-6576-60A9-1A651E806E23}"/>
              </a:ext>
            </a:extLst>
          </p:cNvPr>
          <p:cNvSpPr txBox="1"/>
          <p:nvPr/>
        </p:nvSpPr>
        <p:spPr>
          <a:xfrm>
            <a:off x="110000" y="82029"/>
            <a:ext cx="6096000" cy="523220"/>
          </a:xfrm>
          <a:prstGeom prst="rect">
            <a:avLst/>
          </a:prstGeom>
          <a:noFill/>
        </p:spPr>
        <p:txBody>
          <a:bodyPr wrap="square">
            <a:spAutoFit/>
          </a:bodyPr>
          <a:lstStyle/>
          <a:p>
            <a:r>
              <a:rPr kumimoji="0" lang="zh-CN" altLang="en-US" sz="2800" b="1"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研究二· </a:t>
            </a:r>
            <a:r>
              <a:rPr kumimoji="0" lang="zh-CN" altLang="en-US" sz="2800" b="1" i="0" u="none" strike="noStrike" kern="1200" cap="none" spc="0" normalizeH="0" baseline="0" noProof="0">
                <a:ln>
                  <a:noFill/>
                </a:ln>
                <a:solidFill>
                  <a:prstClr val="white"/>
                </a:solidFill>
                <a:effectLst/>
                <a:uLnTx/>
                <a:uFillTx/>
                <a:latin typeface="等线" panose="02110004020202020204"/>
                <a:ea typeface="等线" panose="02010600030101010101" pitchFamily="2" charset="-122"/>
                <a:cs typeface="+mn-cs"/>
              </a:rPr>
              <a:t>Security Valve</a:t>
            </a:r>
            <a:endParaRPr lang="zh-CN" altLang="en-US" dirty="0"/>
          </a:p>
        </p:txBody>
      </p:sp>
      <p:sp>
        <p:nvSpPr>
          <p:cNvPr id="3" name="文本框 2">
            <a:extLst>
              <a:ext uri="{FF2B5EF4-FFF2-40B4-BE49-F238E27FC236}">
                <a16:creationId xmlns:a16="http://schemas.microsoft.com/office/drawing/2014/main" id="{7D849EEE-806C-ACE0-3617-155D5BA7864D}"/>
              </a:ext>
            </a:extLst>
          </p:cNvPr>
          <p:cNvSpPr txBox="1"/>
          <p:nvPr/>
        </p:nvSpPr>
        <p:spPr>
          <a:xfrm flipH="1">
            <a:off x="11892000" y="6446554"/>
            <a:ext cx="270164" cy="369332"/>
          </a:xfrm>
          <a:prstGeom prst="rect">
            <a:avLst/>
          </a:prstGeom>
          <a:noFill/>
        </p:spPr>
        <p:txBody>
          <a:bodyPr wrap="square" rtlCol="0">
            <a:spAutoFit/>
          </a:bodyPr>
          <a:lstStyle/>
          <a:p>
            <a:r>
              <a:rPr kumimoji="1" lang="en-US" altLang="zh-CN" dirty="0"/>
              <a:t>5</a:t>
            </a:r>
            <a:endParaRPr kumimoji="1"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12192000" cy="670308"/>
          </a:xfrm>
          <a:prstGeom prst="rect">
            <a:avLst/>
          </a:prstGeom>
          <a:solidFill>
            <a:srgbClr val="8E1728"/>
          </a:solidFill>
          <a:ln>
            <a:noFill/>
          </a:ln>
        </p:spPr>
        <p:txBody>
          <a:bodyPr rtlCol="0" anchor="ctr"/>
          <a:lstStyle/>
          <a:p>
            <a:pPr algn="ctr"/>
            <a:endParaRPr lang="zh-CN" altLang="en-US" dirty="0"/>
          </a:p>
        </p:txBody>
      </p:sp>
      <p:sp>
        <p:nvSpPr>
          <p:cNvPr id="10" name="SlideTitle"/>
          <p:cNvSpPr txBox="1"/>
          <p:nvPr/>
        </p:nvSpPr>
        <p:spPr>
          <a:xfrm>
            <a:off x="104000" y="98478"/>
            <a:ext cx="11592000" cy="461665"/>
          </a:xfrm>
          <a:prstGeom prst="rect">
            <a:avLst/>
          </a:prstGeom>
          <a:noFill/>
          <a:ln>
            <a:noFill/>
          </a:ln>
        </p:spPr>
        <p:txBody>
          <a:bodyPr wrap="square" anchor="t">
            <a:spAutoFit/>
          </a:bodyPr>
          <a:lstStyle/>
          <a:p>
            <a:pPr>
              <a:spcAft>
                <a:spcPts val="100"/>
              </a:spcAft>
            </a:pPr>
            <a:r>
              <a:rPr lang="zh-CN" altLang="zh-CN" sz="2400" b="1" dirty="0">
                <a:solidFill>
                  <a:schemeClr val="bg1"/>
                </a:solidFill>
              </a:rPr>
              <a:t>从 FinSec 到 Security Valve：检测到拦截的架构升级</a:t>
            </a:r>
            <a:endParaRPr lang="zh-CN" altLang="en-US" sz="2400" b="1" dirty="0">
              <a:solidFill>
                <a:schemeClr val="bg1"/>
              </a:solidFill>
            </a:endParaRPr>
          </a:p>
        </p:txBody>
      </p:sp>
      <p:sp>
        <p:nvSpPr>
          <p:cNvPr id="12" name="TitleBar"/>
          <p:cNvSpPr txBox="1"/>
          <p:nvPr/>
        </p:nvSpPr>
        <p:spPr>
          <a:xfrm>
            <a:off x="300000" y="1230000"/>
            <a:ext cx="11592000" cy="10000"/>
          </a:xfrm>
          <a:prstGeom prst="rect">
            <a:avLst/>
          </a:prstGeom>
          <a:solidFill>
            <a:srgbClr val="8E1728"/>
          </a:solidFill>
          <a:ln>
            <a:noFill/>
          </a:ln>
        </p:spPr>
        <p:txBody>
          <a:bodyPr/>
          <a:lstStyle/>
          <a:p>
            <a:endParaRPr lang="zh-CN" altLang="en-US"/>
          </a:p>
        </p:txBody>
      </p:sp>
      <p:sp>
        <p:nvSpPr>
          <p:cNvPr id="20" name="FSHeader"/>
          <p:cNvSpPr txBox="1"/>
          <p:nvPr/>
        </p:nvSpPr>
        <p:spPr>
          <a:xfrm>
            <a:off x="300000" y="1350000"/>
            <a:ext cx="5600000" cy="400110"/>
          </a:xfrm>
          <a:prstGeom prst="rect">
            <a:avLst/>
          </a:prstGeom>
          <a:solidFill>
            <a:srgbClr val="8E1728"/>
          </a:solidFill>
          <a:ln>
            <a:noFill/>
          </a:ln>
        </p:spPr>
        <p:txBody>
          <a:bodyPr wrap="square" anchor="t">
            <a:spAutoFit/>
          </a:bodyPr>
          <a:lstStyle/>
          <a:p>
            <a:pPr algn="ctr">
              <a:spcAft>
                <a:spcPts val="100"/>
              </a:spcAft>
            </a:pPr>
            <a:r>
              <a:rPr lang="en" altLang="zh-CN" sz="2000" b="1" dirty="0" err="1">
                <a:solidFill>
                  <a:srgbClr val="FFFFFF"/>
                </a:solidFill>
              </a:rPr>
              <a:t>FinSec</a:t>
            </a:r>
            <a:r>
              <a:rPr lang="en" altLang="zh-CN" sz="2000" b="1" dirty="0">
                <a:solidFill>
                  <a:srgbClr val="FFFFFF"/>
                </a:solidFill>
              </a:rPr>
              <a:t> </a:t>
            </a:r>
            <a:r>
              <a:rPr lang="en-US" altLang="zh-CN" sz="2000" b="1" dirty="0">
                <a:solidFill>
                  <a:srgbClr val="FFFFFF"/>
                </a:solidFill>
              </a:rPr>
              <a:t>-</a:t>
            </a:r>
            <a:r>
              <a:rPr lang="zh-CN" altLang="en-US" sz="2000" b="1" dirty="0">
                <a:solidFill>
                  <a:srgbClr val="FFFFFF"/>
                </a:solidFill>
              </a:rPr>
              <a:t>贡献与局限</a:t>
            </a:r>
          </a:p>
        </p:txBody>
      </p:sp>
      <p:sp>
        <p:nvSpPr>
          <p:cNvPr id="21" name="FSContent"/>
          <p:cNvSpPr txBox="1"/>
          <p:nvPr/>
        </p:nvSpPr>
        <p:spPr>
          <a:xfrm>
            <a:off x="300000" y="1770000"/>
            <a:ext cx="5600000" cy="1815882"/>
          </a:xfrm>
          <a:prstGeom prst="rect">
            <a:avLst/>
          </a:prstGeom>
          <a:solidFill>
            <a:srgbClr val="FDF5F5"/>
          </a:solidFill>
          <a:ln w="9525">
            <a:solidFill>
              <a:srgbClr val="E0D0D0"/>
            </a:solidFill>
          </a:ln>
        </p:spPr>
        <p:txBody>
          <a:bodyPr wrap="square" anchor="t">
            <a:spAutoFit/>
          </a:bodyPr>
          <a:lstStyle/>
          <a:p>
            <a:r>
              <a:rPr lang="zh-CN" altLang="zh-CN" sz="1600" dirty="0"/>
              <a:t>FinSec 建立了金融对话的多阶段风险检测能力，F1 达 90.13%，攻击成功率压降至 9.09%。</a:t>
            </a:r>
            <a:endParaRPr lang="en-US" altLang="zh-CN" sz="1600" dirty="0"/>
          </a:p>
          <a:p>
            <a:endParaRPr lang="zh-CN" altLang="zh-CN" sz="1600" dirty="0"/>
          </a:p>
          <a:p>
            <a:r>
              <a:rPr lang="zh-CN" altLang="zh-CN" sz="1600" dirty="0"/>
              <a:t>作为</a:t>
            </a:r>
            <a:r>
              <a:rPr lang="zh-CN" altLang="zh-CN" sz="1600" b="1" dirty="0"/>
              <a:t>旁路检测器</a:t>
            </a:r>
            <a:r>
              <a:rPr lang="zh-CN" altLang="en-US" sz="1600" b="1" dirty="0"/>
              <a:t>的</a:t>
            </a:r>
            <a:r>
              <a:rPr lang="zh-CN" altLang="zh-CN" sz="1600" dirty="0"/>
              <a:t>结构性问题：</a:t>
            </a:r>
          </a:p>
          <a:p>
            <a:r>
              <a:rPr lang="en-US" altLang="zh-CN" sz="1600" dirty="0"/>
              <a:t>1.</a:t>
            </a:r>
            <a:r>
              <a:rPr lang="zh-CN" altLang="en-US" sz="1600" dirty="0"/>
              <a:t> </a:t>
            </a:r>
            <a:r>
              <a:rPr lang="zh-CN" altLang="zh-CN" sz="1600" dirty="0"/>
              <a:t>检测信号与执行管道是</a:t>
            </a:r>
            <a:r>
              <a:rPr lang="zh-CN" altLang="zh-CN" sz="1600" b="1" dirty="0"/>
              <a:t>解耦</a:t>
            </a:r>
            <a:r>
              <a:rPr lang="zh-CN" altLang="zh-CN" sz="1600" dirty="0"/>
              <a:t>的</a:t>
            </a:r>
          </a:p>
          <a:p>
            <a:r>
              <a:rPr lang="en-US" altLang="zh-CN" sz="1600" dirty="0"/>
              <a:t>2.</a:t>
            </a:r>
            <a:r>
              <a:rPr lang="zh-CN" altLang="en-US" sz="1600" dirty="0"/>
              <a:t> </a:t>
            </a:r>
            <a:r>
              <a:rPr lang="zh-CN" altLang="zh-CN" sz="1600" dirty="0"/>
              <a:t>发现了风险，但无法在架构层面强制阻止请求继续传播</a:t>
            </a:r>
          </a:p>
          <a:p>
            <a:r>
              <a:rPr lang="en-US" altLang="zh-CN" sz="1600" dirty="0"/>
              <a:t>3.</a:t>
            </a:r>
            <a:r>
              <a:rPr lang="zh-CN" altLang="en-US" sz="1600" dirty="0"/>
              <a:t> </a:t>
            </a:r>
            <a:r>
              <a:rPr lang="zh-CN" altLang="zh-CN" sz="1600" dirty="0"/>
              <a:t>存在"检测到、报了警、但危险操作仍然执行"的残余风险</a:t>
            </a:r>
          </a:p>
        </p:txBody>
      </p:sp>
      <p:sp>
        <p:nvSpPr>
          <p:cNvPr id="30" name="SVHeader"/>
          <p:cNvSpPr txBox="1"/>
          <p:nvPr/>
        </p:nvSpPr>
        <p:spPr>
          <a:xfrm>
            <a:off x="6292000" y="1350000"/>
            <a:ext cx="5600000" cy="400110"/>
          </a:xfrm>
          <a:prstGeom prst="rect">
            <a:avLst/>
          </a:prstGeom>
          <a:solidFill>
            <a:srgbClr val="6B3A3A"/>
          </a:solidFill>
          <a:ln>
            <a:noFill/>
          </a:ln>
        </p:spPr>
        <p:txBody>
          <a:bodyPr wrap="square" anchor="t">
            <a:spAutoFit/>
          </a:bodyPr>
          <a:lstStyle/>
          <a:p>
            <a:pPr algn="ctr">
              <a:spcAft>
                <a:spcPts val="100"/>
              </a:spcAft>
            </a:pPr>
            <a:r>
              <a:rPr lang="en" altLang="zh-CN" sz="2000" b="1" dirty="0">
                <a:solidFill>
                  <a:srgbClr val="FFFFFF"/>
                </a:solidFill>
              </a:rPr>
              <a:t>Security Valve </a:t>
            </a:r>
            <a:r>
              <a:rPr lang="zh-CN" altLang="en-US" sz="2000" b="1" dirty="0">
                <a:solidFill>
                  <a:srgbClr val="FFFFFF"/>
                </a:solidFill>
              </a:rPr>
              <a:t>的升级</a:t>
            </a:r>
          </a:p>
        </p:txBody>
      </p:sp>
      <p:sp>
        <p:nvSpPr>
          <p:cNvPr id="31" name="SVContent"/>
          <p:cNvSpPr txBox="1"/>
          <p:nvPr/>
        </p:nvSpPr>
        <p:spPr>
          <a:xfrm>
            <a:off x="6292000" y="1770000"/>
            <a:ext cx="5600000" cy="1815882"/>
          </a:xfrm>
          <a:prstGeom prst="rect">
            <a:avLst/>
          </a:prstGeom>
          <a:solidFill>
            <a:srgbClr val="FDF5F5"/>
          </a:solidFill>
          <a:ln w="9525">
            <a:solidFill>
              <a:srgbClr val="E0D0D0"/>
            </a:solidFill>
          </a:ln>
        </p:spPr>
        <p:txBody>
          <a:bodyPr wrap="square" anchor="t">
            <a:spAutoFit/>
          </a:bodyPr>
          <a:lstStyle/>
          <a:p>
            <a:r>
              <a:rPr lang="zh-CN" altLang="zh-CN" sz="1600" dirty="0"/>
              <a:t>基于 FinSec 的经验，将防御机制从</a:t>
            </a:r>
            <a:r>
              <a:rPr lang="zh-CN" altLang="zh-CN" sz="1600" b="1" dirty="0"/>
              <a:t>旁路</a:t>
            </a:r>
            <a:r>
              <a:rPr lang="zh-CN" altLang="zh-CN" sz="1600" dirty="0"/>
              <a:t>改为</a:t>
            </a:r>
            <a:r>
              <a:rPr lang="zh-CN" altLang="zh-CN" sz="1600" b="1" dirty="0"/>
              <a:t>嵌入</a:t>
            </a:r>
            <a:r>
              <a:rPr lang="zh-CN" altLang="zh-CN" sz="1600" dirty="0"/>
              <a:t>：</a:t>
            </a:r>
            <a:endParaRPr lang="en-US" altLang="zh-CN" sz="1600" dirty="0"/>
          </a:p>
          <a:p>
            <a:endParaRPr lang="zh-CN" altLang="zh-CN" sz="1600" dirty="0"/>
          </a:p>
          <a:p>
            <a:r>
              <a:rPr lang="en-US" altLang="zh-CN" sz="1600" dirty="0"/>
              <a:t>1.</a:t>
            </a:r>
            <a:r>
              <a:rPr lang="zh-CN" altLang="en-US" sz="1600" dirty="0"/>
              <a:t> </a:t>
            </a:r>
            <a:r>
              <a:rPr lang="zh-CN" altLang="zh-CN" sz="1600" dirty="0"/>
              <a:t>作为独立智能体置于执行模块上游，物理上切断传播路径</a:t>
            </a:r>
          </a:p>
          <a:p>
            <a:r>
              <a:rPr lang="en-US" altLang="zh-CN" sz="1600" dirty="0"/>
              <a:t>2.</a:t>
            </a:r>
            <a:r>
              <a:rPr lang="zh-CN" altLang="en-US" sz="1600" dirty="0"/>
              <a:t> </a:t>
            </a:r>
            <a:r>
              <a:rPr lang="zh-CN" altLang="zh-CN" sz="1600" dirty="0"/>
              <a:t>复用 FinSec 的语义审计思路，演化为双层串行决策（规则层 + 语义层）</a:t>
            </a:r>
          </a:p>
          <a:p>
            <a:r>
              <a:rPr lang="en-US" altLang="zh-CN" sz="1600" dirty="0"/>
              <a:t>3.</a:t>
            </a:r>
            <a:r>
              <a:rPr lang="zh-CN" altLang="en-US" sz="1600" dirty="0"/>
              <a:t> </a:t>
            </a:r>
            <a:r>
              <a:rPr lang="zh-CN" altLang="zh-CN" sz="1600" dirty="0"/>
              <a:t>被拒请求对 Finance Agent </a:t>
            </a:r>
            <a:r>
              <a:rPr lang="zh-CN" altLang="zh-CN" sz="1600" b="1" dirty="0"/>
              <a:t>完全不可见</a:t>
            </a:r>
            <a:r>
              <a:rPr lang="zh-CN" altLang="zh-CN" sz="1600" dirty="0"/>
              <a:t>，从根本上消除"检测到但没拦住"的问题</a:t>
            </a:r>
          </a:p>
        </p:txBody>
      </p:sp>
      <p:sp>
        <p:nvSpPr>
          <p:cNvPr id="35" name="ValBar"/>
          <p:cNvSpPr txBox="1"/>
          <p:nvPr/>
        </p:nvSpPr>
        <p:spPr>
          <a:xfrm>
            <a:off x="1920982" y="5359499"/>
            <a:ext cx="7430836" cy="338554"/>
          </a:xfrm>
          <a:prstGeom prst="rect">
            <a:avLst/>
          </a:prstGeom>
          <a:solidFill>
            <a:srgbClr val="8E1728"/>
          </a:solidFill>
          <a:ln>
            <a:noFill/>
          </a:ln>
        </p:spPr>
        <p:txBody>
          <a:bodyPr wrap="square" anchor="t">
            <a:spAutoFit/>
          </a:bodyPr>
          <a:lstStyle/>
          <a:p>
            <a:pPr>
              <a:spcAft>
                <a:spcPts val="100"/>
              </a:spcAft>
            </a:pPr>
            <a:r>
              <a:rPr lang="zh-CN" altLang="en-US" sz="1600" b="1" dirty="0">
                <a:solidFill>
                  <a:srgbClr val="FFFFFF"/>
                </a:solidFill>
              </a:rPr>
              <a:t>向</a:t>
            </a:r>
            <a:r>
              <a:rPr lang="en" altLang="zh-CN" sz="1600" b="1" dirty="0">
                <a:solidFill>
                  <a:srgbClr val="FFFFFF"/>
                </a:solidFill>
              </a:rPr>
              <a:t>Security Valve</a:t>
            </a:r>
            <a:r>
              <a:rPr lang="zh-CN" altLang="en" sz="1600" b="1" dirty="0">
                <a:solidFill>
                  <a:srgbClr val="FFFFFF"/>
                </a:solidFill>
              </a:rPr>
              <a:t>的</a:t>
            </a:r>
            <a:r>
              <a:rPr lang="zh-CN" altLang="en-US" sz="1600" b="1" dirty="0">
                <a:solidFill>
                  <a:srgbClr val="FFFFFF"/>
                </a:solidFill>
              </a:rPr>
              <a:t>升级</a:t>
            </a:r>
            <a:r>
              <a:rPr lang="zh-CN" altLang="zh-CN" sz="1600" b="1" dirty="0">
                <a:solidFill>
                  <a:srgbClr val="FFFFFF"/>
                </a:solidFill>
              </a:rPr>
              <a:t>将安全边界从"尽力检测"推进到"强制保证"</a:t>
            </a:r>
            <a:endParaRPr lang="zh-CN" altLang="en-US" sz="1600" b="1" dirty="0">
              <a:solidFill>
                <a:srgbClr val="FFFFFF"/>
              </a:solidFill>
            </a:endParaRPr>
          </a:p>
        </p:txBody>
      </p:sp>
      <p:pic>
        <p:nvPicPr>
          <p:cNvPr id="4" name="Picture 2">
            <a:extLst>
              <a:ext uri="{FF2B5EF4-FFF2-40B4-BE49-F238E27FC236}">
                <a16:creationId xmlns:a16="http://schemas.microsoft.com/office/drawing/2014/main" id="{F67905D2-5031-100A-5D96-FE6FDEEB99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33"/>
          <a:stretch>
            <a:fillRect/>
          </a:stretch>
        </p:blipFill>
        <p:spPr bwMode="auto">
          <a:xfrm>
            <a:off x="11043556" y="0"/>
            <a:ext cx="1148442" cy="65956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90A664B8-5686-B61D-8B01-12995D872BC9}"/>
              </a:ext>
            </a:extLst>
          </p:cNvPr>
          <p:cNvSpPr txBox="1"/>
          <p:nvPr/>
        </p:nvSpPr>
        <p:spPr>
          <a:xfrm flipH="1">
            <a:off x="11736136" y="6411340"/>
            <a:ext cx="270164" cy="369332"/>
          </a:xfrm>
          <a:prstGeom prst="rect">
            <a:avLst/>
          </a:prstGeom>
          <a:noFill/>
        </p:spPr>
        <p:txBody>
          <a:bodyPr wrap="square" rtlCol="0">
            <a:spAutoFit/>
          </a:bodyPr>
          <a:lstStyle/>
          <a:p>
            <a:r>
              <a:rPr kumimoji="1" lang="en-US" altLang="zh-CN" dirty="0"/>
              <a:t>6</a:t>
            </a:r>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81BAD-B2E4-ACC0-DB46-CAF272D0F95D}"/>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2128FA26-7F27-8070-0991-ACF1D6BC3EDC}"/>
              </a:ext>
            </a:extLst>
          </p:cNvPr>
          <p:cNvSpPr/>
          <p:nvPr/>
        </p:nvSpPr>
        <p:spPr>
          <a:xfrm>
            <a:off x="0" y="0"/>
            <a:ext cx="12192000" cy="67030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Picture 2">
            <a:extLst>
              <a:ext uri="{FF2B5EF4-FFF2-40B4-BE49-F238E27FC236}">
                <a16:creationId xmlns:a16="http://schemas.microsoft.com/office/drawing/2014/main" id="{81FDBEA4-EF83-0468-C19F-D8F673A1B1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633"/>
          <a:stretch>
            <a:fillRect/>
          </a:stretch>
        </p:blipFill>
        <p:spPr bwMode="auto">
          <a:xfrm>
            <a:off x="11043558" y="0"/>
            <a:ext cx="1148442" cy="659568"/>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BF48E888-CB6A-FE15-559E-B0E05F34FA10}"/>
              </a:ext>
            </a:extLst>
          </p:cNvPr>
          <p:cNvPicPr>
            <a:picLocks noChangeAspect="1"/>
          </p:cNvPicPr>
          <p:nvPr/>
        </p:nvPicPr>
        <p:blipFill>
          <a:blip r:embed="rId4"/>
          <a:stretch>
            <a:fillRect/>
          </a:stretch>
        </p:blipFill>
        <p:spPr>
          <a:xfrm>
            <a:off x="2247939" y="936355"/>
            <a:ext cx="8267700" cy="4736978"/>
          </a:xfrm>
          <a:prstGeom prst="rect">
            <a:avLst/>
          </a:prstGeom>
        </p:spPr>
      </p:pic>
      <p:sp>
        <p:nvSpPr>
          <p:cNvPr id="3" name="文本框 2">
            <a:extLst>
              <a:ext uri="{FF2B5EF4-FFF2-40B4-BE49-F238E27FC236}">
                <a16:creationId xmlns:a16="http://schemas.microsoft.com/office/drawing/2014/main" id="{6EC83DBA-1153-3962-24E3-51D7F9477523}"/>
              </a:ext>
            </a:extLst>
          </p:cNvPr>
          <p:cNvSpPr txBox="1"/>
          <p:nvPr/>
        </p:nvSpPr>
        <p:spPr>
          <a:xfrm>
            <a:off x="142876" y="751689"/>
            <a:ext cx="2105063" cy="369332"/>
          </a:xfrm>
          <a:prstGeom prst="rect">
            <a:avLst/>
          </a:prstGeom>
          <a:noFill/>
        </p:spPr>
        <p:txBody>
          <a:bodyPr wrap="none" rtlCol="0">
            <a:spAutoFit/>
          </a:bodyPr>
          <a:lstStyle/>
          <a:p>
            <a:r>
              <a:rPr kumimoji="1" lang="en-US" altLang="zh-CN" dirty="0" err="1"/>
              <a:t>VirInsight</a:t>
            </a:r>
            <a:r>
              <a:rPr kumimoji="1" lang="zh-CN" altLang="en-US" dirty="0"/>
              <a:t> 整体架构</a:t>
            </a:r>
          </a:p>
        </p:txBody>
      </p:sp>
      <p:sp>
        <p:nvSpPr>
          <p:cNvPr id="7" name="文本框 6">
            <a:extLst>
              <a:ext uri="{FF2B5EF4-FFF2-40B4-BE49-F238E27FC236}">
                <a16:creationId xmlns:a16="http://schemas.microsoft.com/office/drawing/2014/main" id="{1105C293-B0E1-519C-E7D9-DB35BCA98788}"/>
              </a:ext>
            </a:extLst>
          </p:cNvPr>
          <p:cNvSpPr txBox="1"/>
          <p:nvPr/>
        </p:nvSpPr>
        <p:spPr>
          <a:xfrm>
            <a:off x="-1" y="136348"/>
            <a:ext cx="10044545" cy="523220"/>
          </a:xfrm>
          <a:prstGeom prst="rect">
            <a:avLst/>
          </a:prstGeom>
          <a:noFill/>
        </p:spPr>
        <p:txBody>
          <a:bodyPr wrap="square">
            <a:spAutoFit/>
          </a:bodyPr>
          <a:lstStyle/>
          <a:p>
            <a:r>
              <a:rPr kumimoji="0" lang="zh-CN" altLang="en-US" sz="2800" b="1" i="0" u="none" strike="noStrike" kern="1200" cap="none" spc="0" normalizeH="0" baseline="0" noProof="0" dirty="0">
                <a:ln>
                  <a:noFill/>
                </a:ln>
                <a:solidFill>
                  <a:prstClr val="white"/>
                </a:solidFill>
                <a:effectLst/>
                <a:uLnTx/>
                <a:uFillTx/>
                <a:latin typeface="等线" panose="02110004020202020204"/>
                <a:ea typeface="等线" panose="02010600030101010101" pitchFamily="2" charset="-122"/>
                <a:cs typeface="+mn-cs"/>
              </a:rPr>
              <a:t>研究三：以往研究· </a:t>
            </a:r>
            <a:r>
              <a:rPr lang="zh-CN" altLang="en-US" sz="2800" b="1" dirty="0">
                <a:solidFill>
                  <a:schemeClr val="bg1"/>
                </a:solidFill>
              </a:rPr>
              <a:t>VirInsight</a:t>
            </a:r>
            <a:r>
              <a:rPr lang="en-US" altLang="zh-CN" sz="2800" b="1" dirty="0">
                <a:solidFill>
                  <a:schemeClr val="bg1"/>
                </a:solidFill>
              </a:rPr>
              <a:t>-</a:t>
            </a:r>
            <a:r>
              <a:rPr lang="zh-CN" altLang="en-US" sz="2800" b="1" dirty="0">
                <a:solidFill>
                  <a:schemeClr val="bg1"/>
                </a:solidFill>
              </a:rPr>
              <a:t>虚拟货币市场风险洞察</a:t>
            </a:r>
            <a:endParaRPr lang="zh-CN" altLang="en-US" dirty="0"/>
          </a:p>
        </p:txBody>
      </p:sp>
      <p:sp>
        <p:nvSpPr>
          <p:cNvPr id="8" name="文本框 7">
            <a:extLst>
              <a:ext uri="{FF2B5EF4-FFF2-40B4-BE49-F238E27FC236}">
                <a16:creationId xmlns:a16="http://schemas.microsoft.com/office/drawing/2014/main" id="{ADEE4751-7F50-9ED1-5B43-E26C79CE48A9}"/>
              </a:ext>
            </a:extLst>
          </p:cNvPr>
          <p:cNvSpPr txBox="1"/>
          <p:nvPr/>
        </p:nvSpPr>
        <p:spPr>
          <a:xfrm>
            <a:off x="595746" y="5766177"/>
            <a:ext cx="10737272" cy="923330"/>
          </a:xfrm>
          <a:prstGeom prst="rect">
            <a:avLst/>
          </a:prstGeom>
          <a:noFill/>
        </p:spPr>
        <p:txBody>
          <a:bodyPr wrap="square" rtlCol="0">
            <a:spAutoFit/>
          </a:bodyPr>
          <a:lstStyle/>
          <a:p>
            <a:r>
              <a:rPr kumimoji="1" lang="zh-CN" altLang="en-US" dirty="0"/>
              <a:t>我们做了什么：</a:t>
            </a:r>
            <a:endParaRPr kumimoji="1" lang="en-US" altLang="zh-CN" dirty="0"/>
          </a:p>
          <a:p>
            <a:r>
              <a:rPr kumimoji="1" lang="zh-CN" altLang="en-US" dirty="0"/>
              <a:t>构建了首个面向虚拟货币社交媒体的五分类情感数据集，微调 </a:t>
            </a:r>
            <a:r>
              <a:rPr kumimoji="1" lang="en" altLang="zh-CN" dirty="0"/>
              <a:t>Llama </a:t>
            </a:r>
            <a:r>
              <a:rPr kumimoji="1" lang="zh-CN" altLang="en-US" dirty="0"/>
              <a:t>模型实现细粒度情感识别，并通过 </a:t>
            </a:r>
            <a:r>
              <a:rPr kumimoji="1" lang="en" altLang="zh-CN" dirty="0"/>
              <a:t>Granger </a:t>
            </a:r>
            <a:r>
              <a:rPr kumimoji="1" lang="zh-CN" altLang="en-US" dirty="0"/>
              <a:t>因果验证将情感信号接入异常交易检测，最终集成为可直接面向消费者的端到端投资建议系统</a:t>
            </a:r>
          </a:p>
        </p:txBody>
      </p:sp>
      <p:sp>
        <p:nvSpPr>
          <p:cNvPr id="4" name="文本框 3">
            <a:extLst>
              <a:ext uri="{FF2B5EF4-FFF2-40B4-BE49-F238E27FC236}">
                <a16:creationId xmlns:a16="http://schemas.microsoft.com/office/drawing/2014/main" id="{72CFB01F-5A62-BC83-BBDA-6658498F6CB9}"/>
              </a:ext>
            </a:extLst>
          </p:cNvPr>
          <p:cNvSpPr txBox="1"/>
          <p:nvPr/>
        </p:nvSpPr>
        <p:spPr>
          <a:xfrm flipH="1">
            <a:off x="11736136" y="6411340"/>
            <a:ext cx="270164" cy="369332"/>
          </a:xfrm>
          <a:prstGeom prst="rect">
            <a:avLst/>
          </a:prstGeom>
          <a:noFill/>
        </p:spPr>
        <p:txBody>
          <a:bodyPr wrap="square" rtlCol="0">
            <a:spAutoFit/>
          </a:bodyPr>
          <a:lstStyle/>
          <a:p>
            <a:r>
              <a:rPr kumimoji="1" lang="en-US" altLang="zh-CN" dirty="0"/>
              <a:t>7</a:t>
            </a:r>
            <a:endParaRPr kumimoji="1" lang="zh-CN" altLang="en-US" dirty="0"/>
          </a:p>
        </p:txBody>
      </p:sp>
    </p:spTree>
    <p:extLst>
      <p:ext uri="{BB962C8B-B14F-4D97-AF65-F5344CB8AC3E}">
        <p14:creationId xmlns:p14="http://schemas.microsoft.com/office/powerpoint/2010/main" val="4105730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12192000" cy="670308"/>
          </a:xfrm>
          <a:prstGeom prst="rect">
            <a:avLst/>
          </a:prstGeom>
          <a:solidFill>
            <a:srgbClr val="8E1728"/>
          </a:solidFill>
          <a:ln>
            <a:noFill/>
          </a:ln>
        </p:spPr>
        <p:txBody>
          <a:bodyPr rtlCol="0" anchor="ctr"/>
          <a:lstStyle/>
          <a:p>
            <a:pPr algn="ctr"/>
            <a:endParaRPr lang="zh-CN" altLang="en-US" dirty="0"/>
          </a:p>
        </p:txBody>
      </p:sp>
      <p:sp>
        <p:nvSpPr>
          <p:cNvPr id="10" name="SlideTitle"/>
          <p:cNvSpPr txBox="1"/>
          <p:nvPr/>
        </p:nvSpPr>
        <p:spPr>
          <a:xfrm>
            <a:off x="25777" y="78240"/>
            <a:ext cx="11592000" cy="523220"/>
          </a:xfrm>
          <a:prstGeom prst="rect">
            <a:avLst/>
          </a:prstGeom>
          <a:noFill/>
          <a:ln>
            <a:noFill/>
          </a:ln>
        </p:spPr>
        <p:txBody>
          <a:bodyPr wrap="square" anchor="t">
            <a:spAutoFit/>
          </a:bodyPr>
          <a:lstStyle/>
          <a:p>
            <a:pPr algn="l">
              <a:spcAft>
                <a:spcPts val="100"/>
              </a:spcAft>
            </a:pPr>
            <a:r>
              <a:rPr lang="zh-CN" altLang="en-US" sz="2800" b="1" dirty="0">
                <a:solidFill>
                  <a:schemeClr val="bg1"/>
                </a:solidFill>
              </a:rPr>
              <a:t>研究三：以往研究· VirInsight</a:t>
            </a:r>
            <a:r>
              <a:rPr lang="en-US" altLang="zh-CN" sz="2800" b="1" dirty="0">
                <a:solidFill>
                  <a:schemeClr val="bg1"/>
                </a:solidFill>
              </a:rPr>
              <a:t>-</a:t>
            </a:r>
            <a:r>
              <a:rPr lang="zh-CN" altLang="en-US" sz="2800" b="1" dirty="0">
                <a:solidFill>
                  <a:schemeClr val="bg1"/>
                </a:solidFill>
              </a:rPr>
              <a:t>虚拟货币市场风险洞察</a:t>
            </a:r>
          </a:p>
        </p:txBody>
      </p:sp>
      <p:sp>
        <p:nvSpPr>
          <p:cNvPr id="11" name="SlideSub"/>
          <p:cNvSpPr txBox="1"/>
          <p:nvPr/>
        </p:nvSpPr>
        <p:spPr>
          <a:xfrm>
            <a:off x="300000" y="670000"/>
            <a:ext cx="11592000" cy="584775"/>
          </a:xfrm>
          <a:prstGeom prst="rect">
            <a:avLst/>
          </a:prstGeom>
          <a:noFill/>
          <a:ln>
            <a:noFill/>
          </a:ln>
        </p:spPr>
        <p:txBody>
          <a:bodyPr wrap="square" anchor="t">
            <a:spAutoFit/>
          </a:bodyPr>
          <a:lstStyle/>
          <a:p>
            <a:pPr algn="l"/>
            <a:r>
              <a:rPr lang="en" altLang="zh-CN" sz="1600" i="1" dirty="0">
                <a:solidFill>
                  <a:srgbClr val="8E1728"/>
                </a:solidFill>
              </a:rPr>
              <a:t>Text-Only Virtual Currency LLM for Consumer Electronics: Social Sentiment Anomaly Detection and Trading Guidance</a:t>
            </a:r>
          </a:p>
          <a:p>
            <a:pPr algn="l"/>
            <a:r>
              <a:rPr lang="zh-CN" altLang="en-US" sz="1600" i="1" dirty="0">
                <a:solidFill>
                  <a:srgbClr val="8E1728"/>
                </a:solidFill>
              </a:rPr>
              <a:t>IEEE Transactions on Consumer Electronics (TCE) 2025  </a:t>
            </a:r>
          </a:p>
        </p:txBody>
      </p:sp>
      <p:sp>
        <p:nvSpPr>
          <p:cNvPr id="14" name="Badge"/>
          <p:cNvSpPr txBox="1"/>
          <p:nvPr/>
        </p:nvSpPr>
        <p:spPr>
          <a:xfrm>
            <a:off x="299999" y="1525134"/>
            <a:ext cx="11592000" cy="300000"/>
          </a:xfrm>
          <a:prstGeom prst="rect">
            <a:avLst/>
          </a:prstGeom>
          <a:solidFill>
            <a:srgbClr val="FDF5F5"/>
          </a:solidFill>
          <a:ln w="12700">
            <a:solidFill>
              <a:srgbClr val="C8A8A8"/>
            </a:solidFill>
          </a:ln>
        </p:spPr>
        <p:txBody>
          <a:bodyPr wrap="square" anchor="t">
            <a:spAutoFit/>
          </a:bodyPr>
          <a:lstStyle/>
          <a:p>
            <a:pPr algn="l">
              <a:spcAft>
                <a:spcPts val="100"/>
              </a:spcAft>
            </a:pPr>
            <a:r>
              <a:rPr lang="zh-CN" altLang="en-US" sz="1400" b="1" dirty="0">
                <a:solidFill>
                  <a:srgbClr val="8E1728"/>
                </a:solidFill>
              </a:rPr>
              <a:t>[★]  早期核心技术能力验证 — 大模型微调 × 时序异常检测 × 端到端消费者金融应用</a:t>
            </a:r>
          </a:p>
        </p:txBody>
      </p:sp>
      <p:sp>
        <p:nvSpPr>
          <p:cNvPr id="22" name="ColS0"/>
          <p:cNvSpPr txBox="1"/>
          <p:nvPr/>
        </p:nvSpPr>
        <p:spPr>
          <a:xfrm>
            <a:off x="299999" y="3762879"/>
            <a:ext cx="3764000" cy="750000"/>
          </a:xfrm>
          <a:prstGeom prst="rect">
            <a:avLst/>
          </a:prstGeom>
          <a:solidFill>
            <a:srgbClr val="6B3A3A"/>
          </a:solidFill>
          <a:ln>
            <a:noFill/>
          </a:ln>
        </p:spPr>
        <p:txBody>
          <a:bodyPr wrap="square" anchor="t">
            <a:spAutoFit/>
          </a:bodyPr>
          <a:lstStyle/>
          <a:p>
            <a:pPr algn="ctr">
              <a:spcAft>
                <a:spcPts val="100"/>
              </a:spcAft>
            </a:pPr>
            <a:r>
              <a:rPr lang="zh-CN" altLang="en-US" sz="1350" b="1" dirty="0">
                <a:solidFill>
                  <a:srgbClr val="FFFFFF"/>
                </a:solidFill>
              </a:rPr>
              <a:t>BTC 检测准确率
55.0% → 82.0%  (+27pp)</a:t>
            </a:r>
          </a:p>
        </p:txBody>
      </p:sp>
      <p:sp>
        <p:nvSpPr>
          <p:cNvPr id="27" name="ColS1"/>
          <p:cNvSpPr txBox="1"/>
          <p:nvPr/>
        </p:nvSpPr>
        <p:spPr>
          <a:xfrm>
            <a:off x="4213999" y="3762879"/>
            <a:ext cx="3764000" cy="750000"/>
          </a:xfrm>
          <a:prstGeom prst="rect">
            <a:avLst/>
          </a:prstGeom>
          <a:solidFill>
            <a:srgbClr val="6B3A3A"/>
          </a:solidFill>
          <a:ln>
            <a:noFill/>
          </a:ln>
        </p:spPr>
        <p:txBody>
          <a:bodyPr wrap="square" anchor="t">
            <a:spAutoFit/>
          </a:bodyPr>
          <a:lstStyle/>
          <a:p>
            <a:pPr algn="ctr">
              <a:spcAft>
                <a:spcPts val="100"/>
              </a:spcAft>
            </a:pPr>
            <a:r>
              <a:rPr lang="zh-CN" altLang="en-US" sz="1350" b="1" dirty="0">
                <a:solidFill>
                  <a:srgbClr val="FFFFFF"/>
                </a:solidFill>
              </a:rPr>
              <a:t>ETH 检测准确率
74.0% → 81.0%  (+7pp)</a:t>
            </a:r>
          </a:p>
        </p:txBody>
      </p:sp>
      <p:grpSp>
        <p:nvGrpSpPr>
          <p:cNvPr id="8" name="组合 7">
            <a:extLst>
              <a:ext uri="{FF2B5EF4-FFF2-40B4-BE49-F238E27FC236}">
                <a16:creationId xmlns:a16="http://schemas.microsoft.com/office/drawing/2014/main" id="{3783EBFA-A6E3-751E-8C43-319A5FC341EA}"/>
              </a:ext>
            </a:extLst>
          </p:cNvPr>
          <p:cNvGrpSpPr/>
          <p:nvPr/>
        </p:nvGrpSpPr>
        <p:grpSpPr>
          <a:xfrm>
            <a:off x="299999" y="2280122"/>
            <a:ext cx="11592000" cy="1419755"/>
            <a:chOff x="300000" y="1750000"/>
            <a:chExt cx="11592000" cy="1419755"/>
          </a:xfrm>
        </p:grpSpPr>
        <p:sp>
          <p:nvSpPr>
            <p:cNvPr id="20" name="ColH0"/>
            <p:cNvSpPr txBox="1"/>
            <p:nvPr/>
          </p:nvSpPr>
          <p:spPr>
            <a:xfrm>
              <a:off x="300000" y="1750000"/>
              <a:ext cx="3764000" cy="440000"/>
            </a:xfrm>
            <a:prstGeom prst="rect">
              <a:avLst/>
            </a:prstGeom>
            <a:solidFill>
              <a:srgbClr val="8E1728"/>
            </a:solidFill>
            <a:ln>
              <a:noFill/>
            </a:ln>
          </p:spPr>
          <p:txBody>
            <a:bodyPr wrap="square" anchor="t">
              <a:spAutoFit/>
            </a:bodyPr>
            <a:lstStyle/>
            <a:p>
              <a:pPr algn="l">
                <a:spcAft>
                  <a:spcPts val="100"/>
                </a:spcAft>
              </a:pPr>
              <a:r>
                <a:rPr lang="zh-CN" altLang="en-US" sz="1700" b="1" dirty="0">
                  <a:solidFill>
                    <a:srgbClr val="FFFFFF"/>
                  </a:solidFill>
                </a:rPr>
                <a:t>[DB]  VirSent 数据集</a:t>
              </a:r>
            </a:p>
          </p:txBody>
        </p:sp>
        <p:sp>
          <p:nvSpPr>
            <p:cNvPr id="21" name="ColB0"/>
            <p:cNvSpPr txBox="1"/>
            <p:nvPr/>
          </p:nvSpPr>
          <p:spPr>
            <a:xfrm>
              <a:off x="300000" y="2190000"/>
              <a:ext cx="3764000" cy="764312"/>
            </a:xfrm>
            <a:prstGeom prst="rect">
              <a:avLst/>
            </a:prstGeom>
            <a:solidFill>
              <a:srgbClr val="F8F2F2"/>
            </a:solidFill>
            <a:ln w="9525">
              <a:solidFill>
                <a:srgbClr val="E0D0D0"/>
              </a:solidFill>
            </a:ln>
          </p:spPr>
          <p:txBody>
            <a:bodyPr wrap="square" anchor="t">
              <a:spAutoFit/>
            </a:bodyPr>
            <a:lstStyle/>
            <a:p>
              <a:pPr algn="l">
                <a:spcAft>
                  <a:spcPts val="120"/>
                </a:spcAft>
              </a:pPr>
              <a:r>
                <a:rPr lang="zh-CN" altLang="en-US" sz="1400" dirty="0">
                  <a:solidFill>
                    <a:srgbClr val="333333"/>
                  </a:solidFill>
                </a:rPr>
                <a:t>·  12,558 条标注推文（BTC / ETH / BNB）</a:t>
              </a:r>
            </a:p>
            <a:p>
              <a:pPr algn="l">
                <a:spcAft>
                  <a:spcPts val="120"/>
                </a:spcAft>
              </a:pPr>
              <a:r>
                <a:rPr lang="zh-CN" altLang="en-US" sz="1400" dirty="0">
                  <a:solidFill>
                    <a:srgbClr val="333333"/>
                  </a:solidFill>
                </a:rPr>
                <a:t>·  五分类细粒度情感体系</a:t>
              </a:r>
            </a:p>
            <a:p>
              <a:pPr algn="l">
                <a:spcAft>
                  <a:spcPts val="120"/>
                </a:spcAft>
              </a:pPr>
              <a:r>
                <a:rPr lang="zh-CN" altLang="en-US" sz="1400" dirty="0">
                  <a:solidFill>
                    <a:srgbClr val="333333"/>
                  </a:solidFill>
                </a:rPr>
                <a:t>·  TF-IDF + FAISS 相似度去重过滤</a:t>
              </a:r>
            </a:p>
          </p:txBody>
        </p:sp>
        <p:sp>
          <p:nvSpPr>
            <p:cNvPr id="25" name="ColH1"/>
            <p:cNvSpPr txBox="1"/>
            <p:nvPr/>
          </p:nvSpPr>
          <p:spPr>
            <a:xfrm>
              <a:off x="4214000" y="1750000"/>
              <a:ext cx="3764000" cy="440000"/>
            </a:xfrm>
            <a:prstGeom prst="rect">
              <a:avLst/>
            </a:prstGeom>
            <a:solidFill>
              <a:srgbClr val="8E1728"/>
            </a:solidFill>
            <a:ln>
              <a:noFill/>
            </a:ln>
          </p:spPr>
          <p:txBody>
            <a:bodyPr wrap="square" anchor="t">
              <a:spAutoFit/>
            </a:bodyPr>
            <a:lstStyle/>
            <a:p>
              <a:pPr algn="l">
                <a:spcAft>
                  <a:spcPts val="100"/>
                </a:spcAft>
              </a:pPr>
              <a:r>
                <a:rPr lang="zh-CN" altLang="en-US" sz="1700" b="1" dirty="0">
                  <a:solidFill>
                    <a:srgbClr val="FFFFFF"/>
                  </a:solidFill>
                </a:rPr>
                <a:t>[AI]  Vir-Llama 大模型微调</a:t>
              </a:r>
            </a:p>
          </p:txBody>
        </p:sp>
        <p:sp>
          <p:nvSpPr>
            <p:cNvPr id="26" name="ColB1"/>
            <p:cNvSpPr txBox="1"/>
            <p:nvPr/>
          </p:nvSpPr>
          <p:spPr>
            <a:xfrm>
              <a:off x="4214000" y="2190000"/>
              <a:ext cx="3764000" cy="764312"/>
            </a:xfrm>
            <a:prstGeom prst="rect">
              <a:avLst/>
            </a:prstGeom>
            <a:solidFill>
              <a:srgbClr val="F8F2F2"/>
            </a:solidFill>
            <a:ln w="9525">
              <a:solidFill>
                <a:srgbClr val="E0D0D0"/>
              </a:solidFill>
            </a:ln>
          </p:spPr>
          <p:txBody>
            <a:bodyPr wrap="square" anchor="t">
              <a:spAutoFit/>
            </a:bodyPr>
            <a:lstStyle/>
            <a:p>
              <a:pPr algn="l">
                <a:spcAft>
                  <a:spcPts val="120"/>
                </a:spcAft>
              </a:pPr>
              <a:r>
                <a:rPr lang="zh-CN" altLang="en-US" sz="1400" dirty="0">
                  <a:solidFill>
                    <a:srgbClr val="333333"/>
                  </a:solidFill>
                </a:rPr>
                <a:t>·  Llama 3.1-8B + LoRA (rank=32) 微调</a:t>
              </a:r>
            </a:p>
            <a:p>
              <a:pPr algn="l">
                <a:spcAft>
                  <a:spcPts val="120"/>
                </a:spcAft>
              </a:pPr>
              <a:r>
                <a:rPr lang="zh-CN" altLang="en-US" sz="1400" dirty="0">
                  <a:solidFill>
                    <a:srgbClr val="333333"/>
                  </a:solidFill>
                </a:rPr>
                <a:t>·  F1 = 71.3%，全面超越 GPT-4o / FinBERT</a:t>
              </a:r>
            </a:p>
            <a:p>
              <a:pPr algn="l">
                <a:spcAft>
                  <a:spcPts val="120"/>
                </a:spcAft>
              </a:pPr>
              <a:r>
                <a:rPr lang="zh-CN" altLang="en-US" sz="1400" dirty="0">
                  <a:solidFill>
                    <a:srgbClr val="333333"/>
                  </a:solidFill>
                </a:rPr>
                <a:t>·  Alpaca 格式指令，五分类情感识别</a:t>
              </a:r>
            </a:p>
          </p:txBody>
        </p:sp>
        <p:sp>
          <p:nvSpPr>
            <p:cNvPr id="30" name="ColH2"/>
            <p:cNvSpPr txBox="1"/>
            <p:nvPr/>
          </p:nvSpPr>
          <p:spPr>
            <a:xfrm>
              <a:off x="8128000" y="1750000"/>
              <a:ext cx="3764000" cy="440000"/>
            </a:xfrm>
            <a:prstGeom prst="rect">
              <a:avLst/>
            </a:prstGeom>
            <a:solidFill>
              <a:srgbClr val="8E1728"/>
            </a:solidFill>
            <a:ln>
              <a:noFill/>
            </a:ln>
          </p:spPr>
          <p:txBody>
            <a:bodyPr wrap="square" anchor="t">
              <a:spAutoFit/>
            </a:bodyPr>
            <a:lstStyle/>
            <a:p>
              <a:pPr algn="l">
                <a:spcAft>
                  <a:spcPts val="100"/>
                </a:spcAft>
              </a:pPr>
              <a:r>
                <a:rPr lang="zh-CN" altLang="en-US" sz="1700" b="1" dirty="0">
                  <a:solidFill>
                    <a:srgbClr val="FFFFFF"/>
                  </a:solidFill>
                </a:rPr>
                <a:t>[UP]  ARIMAX 情感驱动异常检测</a:t>
              </a:r>
            </a:p>
          </p:txBody>
        </p:sp>
        <p:sp>
          <p:nvSpPr>
            <p:cNvPr id="31" name="ColB2"/>
            <p:cNvSpPr txBox="1"/>
            <p:nvPr/>
          </p:nvSpPr>
          <p:spPr>
            <a:xfrm>
              <a:off x="8128000" y="2190000"/>
              <a:ext cx="3764000" cy="979755"/>
            </a:xfrm>
            <a:prstGeom prst="rect">
              <a:avLst/>
            </a:prstGeom>
            <a:solidFill>
              <a:srgbClr val="F8F2F2"/>
            </a:solidFill>
            <a:ln w="9525">
              <a:solidFill>
                <a:srgbClr val="E0D0D0"/>
              </a:solidFill>
            </a:ln>
          </p:spPr>
          <p:txBody>
            <a:bodyPr wrap="square" anchor="t">
              <a:spAutoFit/>
            </a:bodyPr>
            <a:lstStyle/>
            <a:p>
              <a:pPr algn="l">
                <a:spcAft>
                  <a:spcPts val="120"/>
                </a:spcAft>
              </a:pPr>
              <a:r>
                <a:rPr lang="zh-CN" altLang="en-US" sz="1400" dirty="0">
                  <a:solidFill>
                    <a:srgbClr val="333333"/>
                  </a:solidFill>
                </a:rPr>
                <a:t>·  Granger 因果检验：情感→价格  p&lt;0.05</a:t>
              </a:r>
            </a:p>
            <a:p>
              <a:pPr algn="l">
                <a:spcAft>
                  <a:spcPts val="120"/>
                </a:spcAft>
              </a:pPr>
              <a:r>
                <a:rPr lang="zh-CN" altLang="en-US" sz="1400" dirty="0">
                  <a:solidFill>
                    <a:srgbClr val="333333"/>
                  </a:solidFill>
                </a:rPr>
                <a:t>·  BTC 异常检测准确率：55% → 82% 提升 27pp</a:t>
              </a:r>
            </a:p>
            <a:p>
              <a:pPr algn="l">
                <a:spcAft>
                  <a:spcPts val="120"/>
                </a:spcAft>
              </a:pPr>
              <a:r>
                <a:rPr lang="zh-CN" altLang="en-US" sz="1400" dirty="0">
                  <a:solidFill>
                    <a:srgbClr val="333333"/>
                  </a:solidFill>
                </a:rPr>
                <a:t>·  集成至 VirInsight 端到端建议框架</a:t>
              </a:r>
            </a:p>
          </p:txBody>
        </p:sp>
      </p:grpSp>
      <p:sp>
        <p:nvSpPr>
          <p:cNvPr id="32" name="ColS2"/>
          <p:cNvSpPr txBox="1"/>
          <p:nvPr/>
        </p:nvSpPr>
        <p:spPr>
          <a:xfrm>
            <a:off x="8127999" y="3762879"/>
            <a:ext cx="3764000" cy="750000"/>
          </a:xfrm>
          <a:prstGeom prst="rect">
            <a:avLst/>
          </a:prstGeom>
          <a:solidFill>
            <a:srgbClr val="6B3A3A"/>
          </a:solidFill>
          <a:ln>
            <a:noFill/>
          </a:ln>
        </p:spPr>
        <p:txBody>
          <a:bodyPr wrap="square" anchor="t">
            <a:spAutoFit/>
          </a:bodyPr>
          <a:lstStyle/>
          <a:p>
            <a:pPr algn="ctr">
              <a:spcAft>
                <a:spcPts val="100"/>
              </a:spcAft>
            </a:pPr>
            <a:r>
              <a:rPr lang="zh-CN" altLang="en-US" sz="1350" b="1" dirty="0">
                <a:solidFill>
                  <a:srgbClr val="FFFFFF"/>
                </a:solidFill>
              </a:rPr>
              <a:t>BNB 检测准确率
71.0% → 82.0%  (+11pp)</a:t>
            </a:r>
          </a:p>
        </p:txBody>
      </p:sp>
      <p:pic>
        <p:nvPicPr>
          <p:cNvPr id="4" name="Picture 2">
            <a:extLst>
              <a:ext uri="{FF2B5EF4-FFF2-40B4-BE49-F238E27FC236}">
                <a16:creationId xmlns:a16="http://schemas.microsoft.com/office/drawing/2014/main" id="{24FA282B-BAC1-6C1C-A281-776EE77C1F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33"/>
          <a:stretch>
            <a:fillRect/>
          </a:stretch>
        </p:blipFill>
        <p:spPr bwMode="auto">
          <a:xfrm>
            <a:off x="11043556" y="0"/>
            <a:ext cx="1148442" cy="659568"/>
          </a:xfrm>
          <a:prstGeom prst="rect">
            <a:avLst/>
          </a:prstGeom>
          <a:noFill/>
          <a:extLst>
            <a:ext uri="{909E8E84-426E-40DD-AFC4-6F175D3DCCD1}">
              <a14:hiddenFill xmlns:a14="http://schemas.microsoft.com/office/drawing/2010/main">
                <a:solidFill>
                  <a:srgbClr val="FFFFFF"/>
                </a:solidFill>
              </a14:hiddenFill>
            </a:ext>
          </a:extLst>
        </p:spPr>
      </p:pic>
      <p:sp>
        <p:nvSpPr>
          <p:cNvPr id="6" name="ValBar">
            <a:extLst>
              <a:ext uri="{FF2B5EF4-FFF2-40B4-BE49-F238E27FC236}">
                <a16:creationId xmlns:a16="http://schemas.microsoft.com/office/drawing/2014/main" id="{F0555750-7883-8175-E3A5-2418EB19E408}"/>
              </a:ext>
            </a:extLst>
          </p:cNvPr>
          <p:cNvSpPr txBox="1"/>
          <p:nvPr/>
        </p:nvSpPr>
        <p:spPr>
          <a:xfrm>
            <a:off x="1715563" y="6188000"/>
            <a:ext cx="8760873" cy="338554"/>
          </a:xfrm>
          <a:prstGeom prst="rect">
            <a:avLst/>
          </a:prstGeom>
          <a:solidFill>
            <a:srgbClr val="8E1728"/>
          </a:solidFill>
          <a:ln>
            <a:noFill/>
          </a:ln>
        </p:spPr>
        <p:txBody>
          <a:bodyPr wrap="square" anchor="t">
            <a:spAutoFit/>
          </a:bodyPr>
          <a:lstStyle/>
          <a:p>
            <a:pPr>
              <a:spcAft>
                <a:spcPts val="100"/>
              </a:spcAft>
            </a:pPr>
            <a:r>
              <a:rPr lang="en" altLang="zh-CN" sz="1600" b="1" dirty="0" err="1">
                <a:solidFill>
                  <a:srgbClr val="FFFFFF"/>
                </a:solidFill>
              </a:rPr>
              <a:t>VirInsight</a:t>
            </a:r>
            <a:r>
              <a:rPr lang="en" altLang="zh-CN" sz="1600" b="1" dirty="0">
                <a:solidFill>
                  <a:srgbClr val="FFFFFF"/>
                </a:solidFill>
              </a:rPr>
              <a:t> </a:t>
            </a:r>
            <a:r>
              <a:rPr lang="zh-CN" altLang="en-US" sz="1600" b="1" dirty="0">
                <a:solidFill>
                  <a:srgbClr val="FFFFFF"/>
                </a:solidFill>
              </a:rPr>
              <a:t>的核心创新在于打通了</a:t>
            </a:r>
            <a:r>
              <a:rPr lang="en-US" altLang="zh-CN" sz="1600" b="1" dirty="0">
                <a:solidFill>
                  <a:srgbClr val="FFFFFF"/>
                </a:solidFill>
              </a:rPr>
              <a:t>"</a:t>
            </a:r>
            <a:r>
              <a:rPr lang="zh-CN" altLang="en-US" sz="1600" b="1" dirty="0">
                <a:solidFill>
                  <a:srgbClr val="FFFFFF"/>
                </a:solidFill>
              </a:rPr>
              <a:t>情感分类 → 因果验证 → 异常检测 → 投资建议</a:t>
            </a:r>
            <a:r>
              <a:rPr lang="en-US" altLang="zh-CN" sz="1600" b="1" dirty="0">
                <a:solidFill>
                  <a:srgbClr val="FFFFFF"/>
                </a:solidFill>
              </a:rPr>
              <a:t>"</a:t>
            </a:r>
            <a:r>
              <a:rPr lang="zh-CN" altLang="en-US" sz="1600" b="1" dirty="0">
                <a:solidFill>
                  <a:srgbClr val="FFFFFF"/>
                </a:solidFill>
              </a:rPr>
              <a:t>的完整链路</a:t>
            </a:r>
          </a:p>
        </p:txBody>
      </p:sp>
      <p:sp>
        <p:nvSpPr>
          <p:cNvPr id="3" name="文本框 2">
            <a:extLst>
              <a:ext uri="{FF2B5EF4-FFF2-40B4-BE49-F238E27FC236}">
                <a16:creationId xmlns:a16="http://schemas.microsoft.com/office/drawing/2014/main" id="{9D4E3963-7E1E-CD46-8BE0-B938985FADE5}"/>
              </a:ext>
            </a:extLst>
          </p:cNvPr>
          <p:cNvSpPr txBox="1"/>
          <p:nvPr/>
        </p:nvSpPr>
        <p:spPr>
          <a:xfrm flipH="1">
            <a:off x="11736136" y="6411340"/>
            <a:ext cx="270164" cy="369332"/>
          </a:xfrm>
          <a:prstGeom prst="rect">
            <a:avLst/>
          </a:prstGeom>
          <a:noFill/>
        </p:spPr>
        <p:txBody>
          <a:bodyPr wrap="square" rtlCol="0">
            <a:spAutoFit/>
          </a:bodyPr>
          <a:lstStyle/>
          <a:p>
            <a:r>
              <a:rPr kumimoji="1" lang="en-US" altLang="zh-CN" dirty="0"/>
              <a:t>8</a:t>
            </a:r>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12192000" cy="670308"/>
          </a:xfrm>
          <a:prstGeom prst="rect">
            <a:avLst/>
          </a:prstGeom>
          <a:solidFill>
            <a:srgbClr val="8E1728"/>
          </a:solidFill>
          <a:ln>
            <a:noFill/>
          </a:ln>
        </p:spPr>
        <p:txBody>
          <a:bodyPr rtlCol="0" anchor="ctr"/>
          <a:lstStyle/>
          <a:p>
            <a:pPr algn="ctr"/>
            <a:endParaRPr lang="zh-CN" altLang="en-US" dirty="0"/>
          </a:p>
        </p:txBody>
      </p:sp>
      <p:sp>
        <p:nvSpPr>
          <p:cNvPr id="10" name="SlideTitle"/>
          <p:cNvSpPr txBox="1"/>
          <p:nvPr/>
        </p:nvSpPr>
        <p:spPr>
          <a:xfrm>
            <a:off x="300000" y="104784"/>
            <a:ext cx="11592000" cy="523220"/>
          </a:xfrm>
          <a:prstGeom prst="rect">
            <a:avLst/>
          </a:prstGeom>
          <a:noFill/>
          <a:ln>
            <a:noFill/>
          </a:ln>
        </p:spPr>
        <p:txBody>
          <a:bodyPr wrap="square" anchor="t">
            <a:spAutoFit/>
          </a:bodyPr>
          <a:lstStyle/>
          <a:p>
            <a:pPr algn="l">
              <a:spcAft>
                <a:spcPts val="100"/>
              </a:spcAft>
            </a:pPr>
            <a:r>
              <a:rPr lang="zh-CN" altLang="en-US" sz="2800" b="1" dirty="0">
                <a:solidFill>
                  <a:schemeClr val="bg1"/>
                </a:solidFill>
              </a:rPr>
              <a:t>研究总结 · 贡献与展望</a:t>
            </a:r>
          </a:p>
        </p:txBody>
      </p:sp>
      <p:sp>
        <p:nvSpPr>
          <p:cNvPr id="20" name="ContA0"/>
          <p:cNvSpPr txBox="1"/>
          <p:nvPr/>
        </p:nvSpPr>
        <p:spPr>
          <a:xfrm>
            <a:off x="300000" y="856650"/>
            <a:ext cx="80000" cy="1200000"/>
          </a:xfrm>
          <a:prstGeom prst="rect">
            <a:avLst/>
          </a:prstGeom>
          <a:solidFill>
            <a:srgbClr val="8E1728"/>
          </a:solidFill>
          <a:ln>
            <a:noFill/>
          </a:ln>
        </p:spPr>
        <p:txBody>
          <a:bodyPr/>
          <a:lstStyle/>
          <a:p>
            <a:endParaRPr lang="zh-CN" altLang="en-US"/>
          </a:p>
        </p:txBody>
      </p:sp>
      <p:sp>
        <p:nvSpPr>
          <p:cNvPr id="21" name="ContC0"/>
          <p:cNvSpPr txBox="1"/>
          <p:nvPr/>
        </p:nvSpPr>
        <p:spPr>
          <a:xfrm>
            <a:off x="400000" y="856650"/>
            <a:ext cx="7000000" cy="1287532"/>
          </a:xfrm>
          <a:prstGeom prst="rect">
            <a:avLst/>
          </a:prstGeom>
          <a:solidFill>
            <a:srgbClr val="F8F2F2"/>
          </a:solidFill>
          <a:ln w="9525">
            <a:solidFill>
              <a:srgbClr val="E0D0D0"/>
            </a:solidFill>
          </a:ln>
        </p:spPr>
        <p:txBody>
          <a:bodyPr wrap="square" anchor="t">
            <a:spAutoFit/>
          </a:bodyPr>
          <a:lstStyle/>
          <a:p>
            <a:pPr algn="l">
              <a:spcAft>
                <a:spcPts val="60"/>
              </a:spcAft>
            </a:pPr>
            <a:r>
              <a:rPr lang="zh-CN" altLang="en-US" sz="1700" b="1" dirty="0">
                <a:solidFill>
                  <a:srgbClr val="8E1728"/>
                </a:solidFill>
              </a:rPr>
              <a:t>形式化建模</a:t>
            </a:r>
            <a:endParaRPr lang="en-US" altLang="zh-CN" sz="1700" b="1" dirty="0">
              <a:solidFill>
                <a:srgbClr val="8E1728"/>
              </a:solidFill>
            </a:endParaRPr>
          </a:p>
          <a:p>
            <a:pPr algn="l">
              <a:spcAft>
                <a:spcPts val="60"/>
              </a:spcAft>
            </a:pPr>
            <a:endParaRPr lang="zh-CN" altLang="en-US" sz="1700" b="1" dirty="0">
              <a:solidFill>
                <a:srgbClr val="8E1728"/>
              </a:solidFill>
            </a:endParaRPr>
          </a:p>
          <a:p>
            <a:r>
              <a:rPr lang="zh-CN" altLang="zh-CN" sz="1400" dirty="0"/>
              <a:t>我们构建了一套覆盖输入感知、行为检测、执行拦截三个层次的 AI Agent 安全防护体系，从数据源头到决策执行全链路闭合，是目前少数在金融场景下同时解决"感知"与"强制保证"两个问题的完整研究序列</a:t>
            </a:r>
            <a:endParaRPr lang="zh-CN" altLang="en-US" sz="1350" dirty="0">
              <a:solidFill>
                <a:srgbClr val="333333"/>
              </a:solidFill>
            </a:endParaRPr>
          </a:p>
        </p:txBody>
      </p:sp>
      <p:sp>
        <p:nvSpPr>
          <p:cNvPr id="23" name="ContA1"/>
          <p:cNvSpPr txBox="1"/>
          <p:nvPr/>
        </p:nvSpPr>
        <p:spPr>
          <a:xfrm>
            <a:off x="300000" y="2206650"/>
            <a:ext cx="80000" cy="1200000"/>
          </a:xfrm>
          <a:prstGeom prst="rect">
            <a:avLst/>
          </a:prstGeom>
          <a:solidFill>
            <a:srgbClr val="8E1728"/>
          </a:solidFill>
          <a:ln>
            <a:noFill/>
          </a:ln>
        </p:spPr>
        <p:txBody>
          <a:bodyPr/>
          <a:lstStyle/>
          <a:p>
            <a:endParaRPr lang="zh-CN" altLang="en-US"/>
          </a:p>
        </p:txBody>
      </p:sp>
      <p:sp>
        <p:nvSpPr>
          <p:cNvPr id="24" name="ContC1"/>
          <p:cNvSpPr txBox="1"/>
          <p:nvPr/>
        </p:nvSpPr>
        <p:spPr>
          <a:xfrm>
            <a:off x="400000" y="2206650"/>
            <a:ext cx="7000000" cy="1238801"/>
          </a:xfrm>
          <a:prstGeom prst="rect">
            <a:avLst/>
          </a:prstGeom>
          <a:solidFill>
            <a:srgbClr val="F8F2F2"/>
          </a:solidFill>
          <a:ln w="9525">
            <a:solidFill>
              <a:srgbClr val="E0D0D0"/>
            </a:solidFill>
          </a:ln>
        </p:spPr>
        <p:txBody>
          <a:bodyPr wrap="square" anchor="t">
            <a:spAutoFit/>
          </a:bodyPr>
          <a:lstStyle/>
          <a:p>
            <a:pPr algn="l"/>
            <a:r>
              <a:rPr lang="en" altLang="zh-CN" sz="1700" b="1" dirty="0" err="1">
                <a:solidFill>
                  <a:srgbClr val="8E1728"/>
                </a:solidFill>
              </a:rPr>
              <a:t>VirInsight</a:t>
            </a:r>
            <a:r>
              <a:rPr lang="zh-CN" altLang="en" sz="1700" b="1" dirty="0">
                <a:solidFill>
                  <a:srgbClr val="8E1728"/>
                </a:solidFill>
              </a:rPr>
              <a:t>（</a:t>
            </a:r>
            <a:r>
              <a:rPr lang="zh-CN" altLang="en-US" sz="1700" b="1" dirty="0">
                <a:solidFill>
                  <a:srgbClr val="8E1728"/>
                </a:solidFill>
              </a:rPr>
              <a:t>基础层） </a:t>
            </a:r>
            <a:endParaRPr lang="en-US" altLang="zh-CN" sz="1700" b="1" dirty="0">
              <a:solidFill>
                <a:srgbClr val="8E1728"/>
              </a:solidFill>
            </a:endParaRPr>
          </a:p>
          <a:p>
            <a:pPr algn="l"/>
            <a:endParaRPr lang="en-US" altLang="zh-CN" sz="1700" b="1" dirty="0">
              <a:solidFill>
                <a:srgbClr val="8E1728"/>
              </a:solidFill>
            </a:endParaRPr>
          </a:p>
          <a:p>
            <a:pPr algn="l"/>
            <a:r>
              <a:rPr lang="zh-CN" altLang="en-US" sz="1350" dirty="0">
                <a:solidFill>
                  <a:srgbClr val="333333"/>
                </a:solidFill>
              </a:rPr>
              <a:t>解决的是</a:t>
            </a:r>
            <a:r>
              <a:rPr lang="en-US" altLang="zh-CN" sz="1350" dirty="0">
                <a:solidFill>
                  <a:srgbClr val="333333"/>
                </a:solidFill>
              </a:rPr>
              <a:t>"</a:t>
            </a:r>
            <a:r>
              <a:rPr lang="en" altLang="zh-CN" sz="1350" dirty="0">
                <a:solidFill>
                  <a:srgbClr val="333333"/>
                </a:solidFill>
              </a:rPr>
              <a:t>AI </a:t>
            </a:r>
            <a:r>
              <a:rPr lang="zh-CN" altLang="en-US" sz="1350" dirty="0">
                <a:solidFill>
                  <a:srgbClr val="333333"/>
                </a:solidFill>
              </a:rPr>
              <a:t>系统的输入安全</a:t>
            </a:r>
            <a:r>
              <a:rPr lang="en-US" altLang="zh-CN" sz="1350" dirty="0">
                <a:solidFill>
                  <a:srgbClr val="333333"/>
                </a:solidFill>
              </a:rPr>
              <a:t>"——</a:t>
            </a:r>
            <a:r>
              <a:rPr lang="zh-CN" altLang="en-US" sz="1350" dirty="0">
                <a:solidFill>
                  <a:srgbClr val="333333"/>
                </a:solidFill>
              </a:rPr>
              <a:t>社交媒体信息被大量无序、情绪化内容污染，模型如果直接消费这些输入会产生错误判断甚至被操控。</a:t>
            </a:r>
            <a:r>
              <a:rPr lang="en" altLang="zh-CN" sz="1350" dirty="0" err="1">
                <a:solidFill>
                  <a:srgbClr val="333333"/>
                </a:solidFill>
              </a:rPr>
              <a:t>VirInsight</a:t>
            </a:r>
            <a:r>
              <a:rPr lang="en" altLang="zh-CN" sz="1350" dirty="0">
                <a:solidFill>
                  <a:srgbClr val="333333"/>
                </a:solidFill>
              </a:rPr>
              <a:t> </a:t>
            </a:r>
            <a:r>
              <a:rPr lang="zh-CN" altLang="en-US" sz="1350" dirty="0">
                <a:solidFill>
                  <a:srgbClr val="333333"/>
                </a:solidFill>
              </a:rPr>
              <a:t>通过细粒度情感建模 </a:t>
            </a:r>
            <a:r>
              <a:rPr lang="en-US" altLang="zh-CN" sz="1350" dirty="0">
                <a:solidFill>
                  <a:srgbClr val="333333"/>
                </a:solidFill>
              </a:rPr>
              <a:t>+ </a:t>
            </a:r>
            <a:r>
              <a:rPr lang="zh-CN" altLang="en-US" sz="1350" dirty="0">
                <a:solidFill>
                  <a:srgbClr val="333333"/>
                </a:solidFill>
              </a:rPr>
              <a:t>因果验证，建立了对非结构化输入的可靠解读能力，是后续安全研究的数据与方法论基础。</a:t>
            </a:r>
          </a:p>
        </p:txBody>
      </p:sp>
      <p:sp>
        <p:nvSpPr>
          <p:cNvPr id="26" name="ContA2"/>
          <p:cNvSpPr txBox="1"/>
          <p:nvPr/>
        </p:nvSpPr>
        <p:spPr>
          <a:xfrm>
            <a:off x="300000" y="3556650"/>
            <a:ext cx="80000" cy="1200000"/>
          </a:xfrm>
          <a:prstGeom prst="rect">
            <a:avLst/>
          </a:prstGeom>
          <a:solidFill>
            <a:srgbClr val="8E1728"/>
          </a:solidFill>
          <a:ln>
            <a:noFill/>
          </a:ln>
        </p:spPr>
        <p:txBody>
          <a:bodyPr/>
          <a:lstStyle/>
          <a:p>
            <a:endParaRPr lang="zh-CN" altLang="en-US"/>
          </a:p>
        </p:txBody>
      </p:sp>
      <p:sp>
        <p:nvSpPr>
          <p:cNvPr id="27" name="ContC2"/>
          <p:cNvSpPr txBox="1"/>
          <p:nvPr/>
        </p:nvSpPr>
        <p:spPr>
          <a:xfrm>
            <a:off x="400000" y="3556650"/>
            <a:ext cx="7000000" cy="1287532"/>
          </a:xfrm>
          <a:prstGeom prst="rect">
            <a:avLst/>
          </a:prstGeom>
          <a:solidFill>
            <a:srgbClr val="F8F2F2"/>
          </a:solidFill>
          <a:ln w="9525">
            <a:solidFill>
              <a:srgbClr val="E0D0D0"/>
            </a:solidFill>
          </a:ln>
        </p:spPr>
        <p:txBody>
          <a:bodyPr wrap="square" anchor="t">
            <a:spAutoFit/>
          </a:bodyPr>
          <a:lstStyle/>
          <a:p>
            <a:pPr algn="l">
              <a:spcAft>
                <a:spcPts val="60"/>
              </a:spcAft>
            </a:pPr>
            <a:r>
              <a:rPr lang="en" altLang="zh-CN" sz="1700" b="1" dirty="0" err="1">
                <a:solidFill>
                  <a:srgbClr val="8E1728"/>
                </a:solidFill>
              </a:rPr>
              <a:t>FinSec</a:t>
            </a:r>
            <a:r>
              <a:rPr lang="zh-CN" altLang="en" sz="1700" b="1" dirty="0">
                <a:solidFill>
                  <a:srgbClr val="8E1728"/>
                </a:solidFill>
              </a:rPr>
              <a:t>（</a:t>
            </a:r>
            <a:r>
              <a:rPr lang="zh-CN" altLang="en-US" sz="1700" b="1" dirty="0">
                <a:solidFill>
                  <a:srgbClr val="8E1728"/>
                </a:solidFill>
              </a:rPr>
              <a:t>感知层）</a:t>
            </a:r>
            <a:endParaRPr lang="en-US" altLang="zh-CN" sz="1700" b="1" dirty="0">
              <a:solidFill>
                <a:srgbClr val="8E1728"/>
              </a:solidFill>
            </a:endParaRPr>
          </a:p>
          <a:p>
            <a:pPr algn="l">
              <a:spcAft>
                <a:spcPts val="60"/>
              </a:spcAft>
            </a:pPr>
            <a:endParaRPr lang="en-US" altLang="zh-CN" sz="1700" b="1" dirty="0">
              <a:solidFill>
                <a:srgbClr val="8E1728"/>
              </a:solidFill>
            </a:endParaRPr>
          </a:p>
          <a:p>
            <a:pPr algn="l">
              <a:spcAft>
                <a:spcPts val="60"/>
              </a:spcAft>
            </a:pPr>
            <a:r>
              <a:rPr lang="zh-CN" altLang="zh-CN" sz="1400" dirty="0"/>
              <a:t>解决的是"AI 系统的行为安全"——金融 Agent 在多轮对话中可能被渐进式诱导执行违规操作，传统单轮检测无法感知这种累积风险。FinSec 引入对抗推演机制，让系统主动预测攻击者的下一步，实现从被动检测到主动感知的跨越</a:t>
            </a:r>
            <a:endParaRPr lang="zh-CN" altLang="en-US" sz="1350" dirty="0">
              <a:solidFill>
                <a:srgbClr val="333333"/>
              </a:solidFill>
            </a:endParaRPr>
          </a:p>
        </p:txBody>
      </p:sp>
      <p:sp>
        <p:nvSpPr>
          <p:cNvPr id="29" name="ContA3"/>
          <p:cNvSpPr txBox="1"/>
          <p:nvPr/>
        </p:nvSpPr>
        <p:spPr>
          <a:xfrm>
            <a:off x="300000" y="4906650"/>
            <a:ext cx="80000" cy="1200000"/>
          </a:xfrm>
          <a:prstGeom prst="rect">
            <a:avLst/>
          </a:prstGeom>
          <a:solidFill>
            <a:srgbClr val="8E1728"/>
          </a:solidFill>
          <a:ln>
            <a:noFill/>
          </a:ln>
        </p:spPr>
        <p:txBody>
          <a:bodyPr/>
          <a:lstStyle/>
          <a:p>
            <a:endParaRPr lang="zh-CN" altLang="en-US"/>
          </a:p>
        </p:txBody>
      </p:sp>
      <p:sp>
        <p:nvSpPr>
          <p:cNvPr id="30" name="ContC3"/>
          <p:cNvSpPr txBox="1"/>
          <p:nvPr/>
        </p:nvSpPr>
        <p:spPr>
          <a:xfrm>
            <a:off x="400000" y="4906650"/>
            <a:ext cx="7000000" cy="1287532"/>
          </a:xfrm>
          <a:prstGeom prst="rect">
            <a:avLst/>
          </a:prstGeom>
          <a:solidFill>
            <a:srgbClr val="F8F2F2"/>
          </a:solidFill>
          <a:ln w="9525">
            <a:solidFill>
              <a:srgbClr val="E0D0D0"/>
            </a:solidFill>
          </a:ln>
        </p:spPr>
        <p:txBody>
          <a:bodyPr wrap="square" anchor="t">
            <a:spAutoFit/>
          </a:bodyPr>
          <a:lstStyle/>
          <a:p>
            <a:pPr algn="l">
              <a:spcAft>
                <a:spcPts val="60"/>
              </a:spcAft>
            </a:pPr>
            <a:r>
              <a:rPr lang="en" altLang="zh-CN" sz="1700" b="1" dirty="0">
                <a:solidFill>
                  <a:srgbClr val="8E1728"/>
                </a:solidFill>
              </a:rPr>
              <a:t>Security Valve</a:t>
            </a:r>
            <a:r>
              <a:rPr lang="zh-CN" altLang="en" sz="1700" b="1" dirty="0">
                <a:solidFill>
                  <a:srgbClr val="8E1728"/>
                </a:solidFill>
              </a:rPr>
              <a:t>（</a:t>
            </a:r>
            <a:r>
              <a:rPr lang="zh-CN" altLang="en-US" sz="1700" b="1" dirty="0">
                <a:solidFill>
                  <a:srgbClr val="8E1728"/>
                </a:solidFill>
              </a:rPr>
              <a:t>执行层）</a:t>
            </a:r>
            <a:endParaRPr lang="en-US" altLang="zh-CN" sz="1700" b="1" dirty="0">
              <a:solidFill>
                <a:srgbClr val="8E1728"/>
              </a:solidFill>
            </a:endParaRPr>
          </a:p>
          <a:p>
            <a:pPr algn="l">
              <a:spcAft>
                <a:spcPts val="60"/>
              </a:spcAft>
            </a:pPr>
            <a:endParaRPr lang="en-US" altLang="zh-CN" sz="1700" b="1" dirty="0">
              <a:solidFill>
                <a:srgbClr val="8E1728"/>
              </a:solidFill>
            </a:endParaRPr>
          </a:p>
          <a:p>
            <a:pPr algn="l">
              <a:spcAft>
                <a:spcPts val="60"/>
              </a:spcAft>
            </a:pPr>
            <a:r>
              <a:rPr lang="zh-CN" altLang="zh-CN" sz="1400" dirty="0"/>
              <a:t>解决的是"AI 系统的执行安全"——检测到风险但无法在架构层面强制阻止，是现有所有外部检测器的共同缺陷。Security Valve 将安全边界嵌入智能体管道本身，实现了从"发现风险"到"消灭风险"的闭环，是 AI Agent 安全从软件层面上升到架构层面的关键一步。</a:t>
            </a:r>
            <a:endParaRPr lang="zh-CN" altLang="en-US" sz="1350" dirty="0">
              <a:solidFill>
                <a:srgbClr val="333333"/>
              </a:solidFill>
            </a:endParaRPr>
          </a:p>
        </p:txBody>
      </p:sp>
      <p:sp>
        <p:nvSpPr>
          <p:cNvPr id="40" name="FutHeader"/>
          <p:cNvSpPr txBox="1"/>
          <p:nvPr/>
        </p:nvSpPr>
        <p:spPr>
          <a:xfrm>
            <a:off x="7586497" y="856650"/>
            <a:ext cx="4392000" cy="400110"/>
          </a:xfrm>
          <a:prstGeom prst="rect">
            <a:avLst/>
          </a:prstGeom>
          <a:solidFill>
            <a:srgbClr val="8E1728"/>
          </a:solidFill>
          <a:ln>
            <a:noFill/>
          </a:ln>
        </p:spPr>
        <p:txBody>
          <a:bodyPr wrap="square" anchor="t">
            <a:spAutoFit/>
          </a:bodyPr>
          <a:lstStyle/>
          <a:p>
            <a:pPr algn="ctr">
              <a:spcAft>
                <a:spcPts val="100"/>
              </a:spcAft>
            </a:pPr>
            <a:r>
              <a:rPr lang="zh-CN" altLang="en-US" sz="2000" b="1" dirty="0">
                <a:solidFill>
                  <a:srgbClr val="FFFFFF"/>
                </a:solidFill>
              </a:rPr>
              <a:t>核心能力</a:t>
            </a:r>
          </a:p>
        </p:txBody>
      </p:sp>
      <p:sp>
        <p:nvSpPr>
          <p:cNvPr id="41" name="FutContent"/>
          <p:cNvSpPr txBox="1"/>
          <p:nvPr/>
        </p:nvSpPr>
        <p:spPr>
          <a:xfrm>
            <a:off x="7586497" y="1296650"/>
            <a:ext cx="4392000" cy="2752035"/>
          </a:xfrm>
          <a:prstGeom prst="rect">
            <a:avLst/>
          </a:prstGeom>
          <a:solidFill>
            <a:srgbClr val="FDF5F5"/>
          </a:solidFill>
          <a:ln w="9525">
            <a:solidFill>
              <a:srgbClr val="E0D0D0"/>
            </a:solidFill>
          </a:ln>
        </p:spPr>
        <p:txBody>
          <a:bodyPr wrap="square" anchor="t">
            <a:spAutoFit/>
          </a:bodyPr>
          <a:lstStyle/>
          <a:p>
            <a:pPr algn="l">
              <a:spcAft>
                <a:spcPts val="80"/>
              </a:spcAft>
            </a:pPr>
            <a:r>
              <a:rPr lang="zh-CN" altLang="en-US" sz="1500" b="1" dirty="0">
                <a:solidFill>
                  <a:srgbClr val="8E1728"/>
                </a:solidFill>
              </a:rPr>
              <a:t>跨领域融合 </a:t>
            </a:r>
            <a:r>
              <a:rPr lang="zh-CN" altLang="en-US" sz="1350" dirty="0">
                <a:solidFill>
                  <a:srgbClr val="444444"/>
                </a:solidFill>
              </a:rPr>
              <a:t>将金融监管逻辑（</a:t>
            </a:r>
            <a:r>
              <a:rPr lang="en" altLang="zh-CN" sz="1350" dirty="0">
                <a:solidFill>
                  <a:srgbClr val="444444"/>
                </a:solidFill>
              </a:rPr>
              <a:t>AML/SAR</a:t>
            </a:r>
            <a:r>
              <a:rPr lang="zh-CN" altLang="en" sz="1350" dirty="0">
                <a:solidFill>
                  <a:srgbClr val="444444"/>
                </a:solidFill>
              </a:rPr>
              <a:t>）、</a:t>
            </a:r>
            <a:r>
              <a:rPr lang="zh-CN" altLang="en-US" sz="1350" dirty="0">
                <a:solidFill>
                  <a:srgbClr val="444444"/>
                </a:solidFill>
              </a:rPr>
              <a:t>对抗推演与 </a:t>
            </a:r>
            <a:r>
              <a:rPr lang="en" altLang="zh-CN" sz="1350" dirty="0">
                <a:solidFill>
                  <a:srgbClr val="444444"/>
                </a:solidFill>
              </a:rPr>
              <a:t>LLM </a:t>
            </a:r>
            <a:r>
              <a:rPr lang="zh-CN" altLang="en-US" sz="1350" dirty="0">
                <a:solidFill>
                  <a:srgbClr val="444444"/>
                </a:solidFill>
              </a:rPr>
              <a:t>工程融合进统一研究体系，不局限于单一技术路线</a:t>
            </a:r>
          </a:p>
          <a:p>
            <a:pPr algn="l">
              <a:spcAft>
                <a:spcPts val="80"/>
              </a:spcAft>
            </a:pPr>
            <a:r>
              <a:rPr lang="zh-CN" altLang="en-US" sz="1500" b="1" dirty="0">
                <a:solidFill>
                  <a:srgbClr val="8E1728"/>
                </a:solidFill>
              </a:rPr>
              <a:t>识别结构性缺口 </a:t>
            </a:r>
            <a:r>
              <a:rPr lang="zh-CN" altLang="en-US" sz="1350" dirty="0">
                <a:solidFill>
                  <a:srgbClr val="444444"/>
                </a:solidFill>
              </a:rPr>
              <a:t>三项研究均从发现现有方法的根本性局限出发，而非在已有框架上做增量改进</a:t>
            </a:r>
          </a:p>
          <a:p>
            <a:pPr algn="l">
              <a:spcAft>
                <a:spcPts val="80"/>
              </a:spcAft>
            </a:pPr>
            <a:r>
              <a:rPr lang="zh-CN" altLang="en-US" sz="1500" b="1" dirty="0">
                <a:solidFill>
                  <a:srgbClr val="8E1728"/>
                </a:solidFill>
              </a:rPr>
              <a:t>系统落地能力 </a:t>
            </a:r>
            <a:r>
              <a:rPr lang="zh-CN" altLang="en-US" sz="1350" dirty="0">
                <a:solidFill>
                  <a:srgbClr val="444444"/>
                </a:solidFill>
              </a:rPr>
              <a:t>每项研究均有可运行系统与量化指标，具备从研究问题到工程实现的完整交付能力</a:t>
            </a:r>
          </a:p>
          <a:p>
            <a:pPr algn="l">
              <a:spcAft>
                <a:spcPts val="80"/>
              </a:spcAft>
            </a:pPr>
            <a:r>
              <a:rPr lang="zh-CN" altLang="en-US" sz="1500" b="1" dirty="0">
                <a:solidFill>
                  <a:srgbClr val="8E1728"/>
                </a:solidFill>
              </a:rPr>
              <a:t>安全攻防视角 </a:t>
            </a:r>
            <a:r>
              <a:rPr lang="zh-CN" altLang="en-US" sz="1350" dirty="0">
                <a:solidFill>
                  <a:srgbClr val="444444"/>
                </a:solidFill>
              </a:rPr>
              <a:t>理解</a:t>
            </a:r>
            <a:r>
              <a:rPr lang="en-US" altLang="zh-CN" sz="1350" dirty="0">
                <a:solidFill>
                  <a:srgbClr val="444444"/>
                </a:solidFill>
              </a:rPr>
              <a:t>"</a:t>
            </a:r>
            <a:r>
              <a:rPr lang="zh-CN" altLang="en-US" sz="1350" dirty="0">
                <a:solidFill>
                  <a:srgbClr val="444444"/>
                </a:solidFill>
              </a:rPr>
              <a:t>检测</a:t>
            </a:r>
            <a:r>
              <a:rPr lang="en-US" altLang="zh-CN" sz="1350" dirty="0">
                <a:solidFill>
                  <a:srgbClr val="444444"/>
                </a:solidFill>
              </a:rPr>
              <a:t>"</a:t>
            </a:r>
            <a:r>
              <a:rPr lang="zh-CN" altLang="en-US" sz="1350" dirty="0">
                <a:solidFill>
                  <a:srgbClr val="444444"/>
                </a:solidFill>
              </a:rPr>
              <a:t>与</a:t>
            </a:r>
            <a:r>
              <a:rPr lang="en-US" altLang="zh-CN" sz="1350" dirty="0">
                <a:solidFill>
                  <a:srgbClr val="444444"/>
                </a:solidFill>
              </a:rPr>
              <a:t>"</a:t>
            </a:r>
            <a:r>
              <a:rPr lang="zh-CN" altLang="en-US" sz="1350" dirty="0">
                <a:solidFill>
                  <a:srgbClr val="444444"/>
                </a:solidFill>
              </a:rPr>
              <a:t>阻断</a:t>
            </a:r>
            <a:r>
              <a:rPr lang="en-US" altLang="zh-CN" sz="1350" dirty="0">
                <a:solidFill>
                  <a:srgbClr val="444444"/>
                </a:solidFill>
              </a:rPr>
              <a:t>"</a:t>
            </a:r>
            <a:r>
              <a:rPr lang="zh-CN" altLang="en-US" sz="1350" dirty="0">
                <a:solidFill>
                  <a:srgbClr val="444444"/>
                </a:solidFill>
              </a:rPr>
              <a:t>是两件事，能从攻击者视角设计防御架构，而非单纯堆叠检测模块</a:t>
            </a:r>
          </a:p>
          <a:p>
            <a:pPr algn="l">
              <a:spcAft>
                <a:spcPts val="80"/>
              </a:spcAft>
            </a:pPr>
            <a:r>
              <a:rPr lang="zh-CN" altLang="en-US" sz="1500" b="1" dirty="0">
                <a:solidFill>
                  <a:srgbClr val="8E1728"/>
                </a:solidFill>
              </a:rPr>
              <a:t>双领域背景 </a:t>
            </a:r>
            <a:r>
              <a:rPr lang="zh-CN" altLang="en-US" sz="1350" dirty="0">
                <a:solidFill>
                  <a:srgbClr val="444444"/>
                </a:solidFill>
              </a:rPr>
              <a:t>同时具备 </a:t>
            </a:r>
            <a:r>
              <a:rPr lang="en" altLang="zh-CN" sz="1350" dirty="0">
                <a:solidFill>
                  <a:srgbClr val="444444"/>
                </a:solidFill>
              </a:rPr>
              <a:t>LLM </a:t>
            </a:r>
            <a:r>
              <a:rPr lang="zh-CN" altLang="en-US" sz="1350" dirty="0">
                <a:solidFill>
                  <a:srgbClr val="444444"/>
                </a:solidFill>
              </a:rPr>
              <a:t>工程能力与金融合规框架（</a:t>
            </a:r>
            <a:r>
              <a:rPr lang="en" altLang="zh-CN" sz="1350" dirty="0">
                <a:solidFill>
                  <a:srgbClr val="444444"/>
                </a:solidFill>
              </a:rPr>
              <a:t>KYC/AML/SAR</a:t>
            </a:r>
            <a:r>
              <a:rPr lang="zh-CN" altLang="en" sz="1350" dirty="0">
                <a:solidFill>
                  <a:srgbClr val="444444"/>
                </a:solidFill>
              </a:rPr>
              <a:t>）</a:t>
            </a:r>
            <a:r>
              <a:rPr lang="zh-CN" altLang="en-US" sz="1350" dirty="0">
                <a:solidFill>
                  <a:srgbClr val="444444"/>
                </a:solidFill>
              </a:rPr>
              <a:t>知识，在金融 </a:t>
            </a:r>
            <a:r>
              <a:rPr lang="en" altLang="zh-CN" sz="1350" dirty="0">
                <a:solidFill>
                  <a:srgbClr val="444444"/>
                </a:solidFill>
              </a:rPr>
              <a:t>AI </a:t>
            </a:r>
            <a:r>
              <a:rPr lang="zh-CN" altLang="en-US" sz="1350" dirty="0">
                <a:solidFill>
                  <a:srgbClr val="444444"/>
                </a:solidFill>
              </a:rPr>
              <a:t>安全方向具备稀缺的复合背景</a:t>
            </a:r>
          </a:p>
        </p:txBody>
      </p:sp>
      <p:pic>
        <p:nvPicPr>
          <p:cNvPr id="4" name="Picture 2">
            <a:extLst>
              <a:ext uri="{FF2B5EF4-FFF2-40B4-BE49-F238E27FC236}">
                <a16:creationId xmlns:a16="http://schemas.microsoft.com/office/drawing/2014/main" id="{4389A236-0CB9-7582-4693-43E30A472D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33"/>
          <a:stretch>
            <a:fillRect/>
          </a:stretch>
        </p:blipFill>
        <p:spPr bwMode="auto">
          <a:xfrm>
            <a:off x="11043558" y="0"/>
            <a:ext cx="1148442" cy="65956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3F42B3C9-03AD-D0B1-2071-041E0BB37146}"/>
              </a:ext>
            </a:extLst>
          </p:cNvPr>
          <p:cNvSpPr txBox="1"/>
          <p:nvPr/>
        </p:nvSpPr>
        <p:spPr>
          <a:xfrm>
            <a:off x="2381023" y="6445439"/>
            <a:ext cx="6474849" cy="307777"/>
          </a:xfrm>
          <a:prstGeom prst="rect">
            <a:avLst/>
          </a:prstGeom>
          <a:noFill/>
        </p:spPr>
        <p:txBody>
          <a:bodyPr wrap="none" rtlCol="0">
            <a:spAutoFit/>
          </a:bodyPr>
          <a:lstStyle/>
          <a:p>
            <a:r>
              <a:rPr lang="zh-CN" altLang="zh-CN" sz="1400" b="1" dirty="0">
                <a:solidFill>
                  <a:srgbClr val="960001"/>
                </a:solidFill>
              </a:rPr>
              <a:t>研究方向：AI Agent 在高合规场景下的安全性——从感知风险到架构级强制保证</a:t>
            </a:r>
            <a:endParaRPr kumimoji="1" lang="zh-CN" altLang="en-US" sz="1400" b="1" dirty="0">
              <a:solidFill>
                <a:srgbClr val="960001"/>
              </a:solidFill>
            </a:endParaRPr>
          </a:p>
        </p:txBody>
      </p:sp>
      <p:sp>
        <p:nvSpPr>
          <p:cNvPr id="3" name="文本框 2">
            <a:extLst>
              <a:ext uri="{FF2B5EF4-FFF2-40B4-BE49-F238E27FC236}">
                <a16:creationId xmlns:a16="http://schemas.microsoft.com/office/drawing/2014/main" id="{45D98E22-3057-BDA4-0505-85DDD0A74E11}"/>
              </a:ext>
            </a:extLst>
          </p:cNvPr>
          <p:cNvSpPr txBox="1"/>
          <p:nvPr/>
        </p:nvSpPr>
        <p:spPr>
          <a:xfrm flipH="1">
            <a:off x="11736136" y="6411340"/>
            <a:ext cx="270164" cy="369332"/>
          </a:xfrm>
          <a:prstGeom prst="rect">
            <a:avLst/>
          </a:prstGeom>
          <a:noFill/>
        </p:spPr>
        <p:txBody>
          <a:bodyPr wrap="square" rtlCol="0">
            <a:spAutoFit/>
          </a:bodyPr>
          <a:lstStyle/>
          <a:p>
            <a:r>
              <a:rPr kumimoji="1" lang="en-US" altLang="zh-CN" dirty="0"/>
              <a:t>9</a:t>
            </a:r>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C46EF-116B-9D84-C6B9-890ABC64027B}"/>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182E80AA-8354-F091-76BE-111776D0B930}"/>
              </a:ext>
            </a:extLst>
          </p:cNvPr>
          <p:cNvSpPr/>
          <p:nvPr/>
        </p:nvSpPr>
        <p:spPr>
          <a:xfrm>
            <a:off x="0" y="0"/>
            <a:ext cx="12192000" cy="67030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Picture 2">
            <a:extLst>
              <a:ext uri="{FF2B5EF4-FFF2-40B4-BE49-F238E27FC236}">
                <a16:creationId xmlns:a16="http://schemas.microsoft.com/office/drawing/2014/main" id="{2E6B2BA9-FDB8-F8B3-04DE-933A8777B5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33"/>
          <a:stretch>
            <a:fillRect/>
          </a:stretch>
        </p:blipFill>
        <p:spPr bwMode="auto">
          <a:xfrm>
            <a:off x="11043558" y="0"/>
            <a:ext cx="1148442" cy="6595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256D5BAA-35FF-2DC0-4D8C-6B7DE3E2CE78}"/>
              </a:ext>
            </a:extLst>
          </p:cNvPr>
          <p:cNvSpPr txBox="1"/>
          <p:nvPr/>
        </p:nvSpPr>
        <p:spPr>
          <a:xfrm>
            <a:off x="4523232" y="2659559"/>
            <a:ext cx="2441694" cy="769441"/>
          </a:xfrm>
          <a:prstGeom prst="rect">
            <a:avLst/>
          </a:prstGeom>
          <a:noFill/>
        </p:spPr>
        <p:txBody>
          <a:bodyPr wrap="none" rtlCol="0">
            <a:spAutoFit/>
          </a:bodyPr>
          <a:lstStyle/>
          <a:p>
            <a:r>
              <a:rPr kumimoji="1" lang="zh-CN" altLang="en-US" sz="4400" b="1" dirty="0">
                <a:solidFill>
                  <a:srgbClr val="960001"/>
                </a:solidFill>
              </a:rPr>
              <a:t>感谢聆听</a:t>
            </a:r>
          </a:p>
        </p:txBody>
      </p:sp>
    </p:spTree>
    <p:extLst>
      <p:ext uri="{BB962C8B-B14F-4D97-AF65-F5344CB8AC3E}">
        <p14:creationId xmlns:p14="http://schemas.microsoft.com/office/powerpoint/2010/main" val="475757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2759E-4C87-1D24-2BFB-FB21470F9AE4}"/>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1BC4B14E-CA2C-8786-31B4-E0ECF0ACFF04}"/>
              </a:ext>
            </a:extLst>
          </p:cNvPr>
          <p:cNvSpPr/>
          <p:nvPr/>
        </p:nvSpPr>
        <p:spPr>
          <a:xfrm>
            <a:off x="0" y="0"/>
            <a:ext cx="12192000" cy="67030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Picture 2">
            <a:extLst>
              <a:ext uri="{FF2B5EF4-FFF2-40B4-BE49-F238E27FC236}">
                <a16:creationId xmlns:a16="http://schemas.microsoft.com/office/drawing/2014/main" id="{28EF794D-55FE-78C3-5F53-8CA9CBD8EA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33"/>
          <a:stretch>
            <a:fillRect/>
          </a:stretch>
        </p:blipFill>
        <p:spPr bwMode="auto">
          <a:xfrm>
            <a:off x="11043558" y="0"/>
            <a:ext cx="1148442" cy="659568"/>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D06F8445-3F48-D652-B0A7-3996CCC9E6EA}"/>
              </a:ext>
            </a:extLst>
          </p:cNvPr>
          <p:cNvPicPr>
            <a:picLocks noChangeAspect="1"/>
          </p:cNvPicPr>
          <p:nvPr/>
        </p:nvPicPr>
        <p:blipFill>
          <a:blip r:embed="rId3"/>
          <a:stretch>
            <a:fillRect/>
          </a:stretch>
        </p:blipFill>
        <p:spPr>
          <a:xfrm>
            <a:off x="1131504" y="1753352"/>
            <a:ext cx="8294370" cy="4483963"/>
          </a:xfrm>
          <a:prstGeom prst="rect">
            <a:avLst/>
          </a:prstGeom>
        </p:spPr>
      </p:pic>
      <p:sp>
        <p:nvSpPr>
          <p:cNvPr id="3" name="文本框 2">
            <a:extLst>
              <a:ext uri="{FF2B5EF4-FFF2-40B4-BE49-F238E27FC236}">
                <a16:creationId xmlns:a16="http://schemas.microsoft.com/office/drawing/2014/main" id="{A241B979-5EDA-DDA6-F993-501645DA3A84}"/>
              </a:ext>
            </a:extLst>
          </p:cNvPr>
          <p:cNvSpPr txBox="1"/>
          <p:nvPr/>
        </p:nvSpPr>
        <p:spPr>
          <a:xfrm>
            <a:off x="98854" y="823500"/>
            <a:ext cx="11454713" cy="1477328"/>
          </a:xfrm>
          <a:prstGeom prst="rect">
            <a:avLst/>
          </a:prstGeom>
          <a:noFill/>
        </p:spPr>
        <p:txBody>
          <a:bodyPr wrap="square" rtlCol="0">
            <a:spAutoFit/>
          </a:bodyPr>
          <a:lstStyle/>
          <a:p>
            <a:r>
              <a:rPr lang="zh-CN" altLang="zh-CN" dirty="0"/>
              <a:t>Optimized Artificial Intelligence and Econometric </a:t>
            </a:r>
            <a:r>
              <a:rPr lang="en-US" altLang="zh-CN" dirty="0"/>
              <a:t> </a:t>
            </a:r>
            <a:r>
              <a:rPr lang="zh-CN" altLang="zh-CN" dirty="0"/>
              <a:t>Model Empowered Virtual-Fiat Settled Price Prediction in Green Cryptocurrency Networks </a:t>
            </a:r>
            <a:endParaRPr lang="en-US" altLang="zh-CN" dirty="0"/>
          </a:p>
          <a:p>
            <a:endParaRPr lang="en-US" altLang="zh-CN" dirty="0"/>
          </a:p>
          <a:p>
            <a:r>
              <a:rPr lang="en-US" altLang="zh-CN" dirty="0"/>
              <a:t>ICC 2024</a:t>
            </a:r>
            <a:endParaRPr lang="zh-CN" altLang="zh-CN" dirty="0"/>
          </a:p>
          <a:p>
            <a:endParaRPr kumimoji="1" lang="zh-CN" altLang="en-US" dirty="0"/>
          </a:p>
        </p:txBody>
      </p:sp>
      <p:sp>
        <p:nvSpPr>
          <p:cNvPr id="4" name="文本框 3">
            <a:extLst>
              <a:ext uri="{FF2B5EF4-FFF2-40B4-BE49-F238E27FC236}">
                <a16:creationId xmlns:a16="http://schemas.microsoft.com/office/drawing/2014/main" id="{D1341301-02BC-2510-114F-050DEBC1A8A3}"/>
              </a:ext>
            </a:extLst>
          </p:cNvPr>
          <p:cNvSpPr txBox="1"/>
          <p:nvPr/>
        </p:nvSpPr>
        <p:spPr>
          <a:xfrm>
            <a:off x="98854" y="129729"/>
            <a:ext cx="1298753" cy="400110"/>
          </a:xfrm>
          <a:prstGeom prst="rect">
            <a:avLst/>
          </a:prstGeom>
          <a:noFill/>
        </p:spPr>
        <p:txBody>
          <a:bodyPr wrap="none" rtlCol="0">
            <a:spAutoFit/>
          </a:bodyPr>
          <a:lstStyle/>
          <a:p>
            <a:r>
              <a:rPr kumimoji="1" lang="en-US" altLang="zh-CN" sz="2000" b="1" i="1" dirty="0">
                <a:solidFill>
                  <a:schemeClr val="bg1"/>
                </a:solidFill>
              </a:rPr>
              <a:t>Appendix</a:t>
            </a:r>
            <a:endParaRPr kumimoji="1" lang="zh-CN" altLang="en-US" sz="2000" b="1" i="1" dirty="0">
              <a:solidFill>
                <a:schemeClr val="bg1"/>
              </a:solidFill>
            </a:endParaRPr>
          </a:p>
        </p:txBody>
      </p:sp>
      <p:sp>
        <p:nvSpPr>
          <p:cNvPr id="7" name="文本框 6">
            <a:extLst>
              <a:ext uri="{FF2B5EF4-FFF2-40B4-BE49-F238E27FC236}">
                <a16:creationId xmlns:a16="http://schemas.microsoft.com/office/drawing/2014/main" id="{59379BB5-3B09-F86D-6C6C-1CC98C08D4E9}"/>
              </a:ext>
            </a:extLst>
          </p:cNvPr>
          <p:cNvSpPr txBox="1"/>
          <p:nvPr/>
        </p:nvSpPr>
        <p:spPr>
          <a:xfrm>
            <a:off x="9565160" y="2628901"/>
            <a:ext cx="2434281" cy="2308324"/>
          </a:xfrm>
          <a:prstGeom prst="rect">
            <a:avLst/>
          </a:prstGeom>
          <a:noFill/>
        </p:spPr>
        <p:txBody>
          <a:bodyPr wrap="square" rtlCol="0">
            <a:spAutoFit/>
          </a:bodyPr>
          <a:lstStyle/>
          <a:p>
            <a:r>
              <a:rPr lang="zh-CN" altLang="zh-CN" dirty="0"/>
              <a:t>针对比特币价格难以准确预测的问题，提出将LSTM与ARIMA联合优化的REARIMA和扩展网络结构的DENSE LSTM，最终融合为DREARIMA，显著提升了预测精度。</a:t>
            </a:r>
            <a:endParaRPr kumimoji="1" lang="zh-CN" altLang="en-US" dirty="0"/>
          </a:p>
        </p:txBody>
      </p:sp>
    </p:spTree>
    <p:extLst>
      <p:ext uri="{BB962C8B-B14F-4D97-AF65-F5344CB8AC3E}">
        <p14:creationId xmlns:p14="http://schemas.microsoft.com/office/powerpoint/2010/main" val="1993856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95A04-1B6F-BA67-8BB6-E683402F4F04}"/>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C3EACCF2-837A-11B3-AAFB-3A8116359427}"/>
              </a:ext>
            </a:extLst>
          </p:cNvPr>
          <p:cNvSpPr/>
          <p:nvPr/>
        </p:nvSpPr>
        <p:spPr>
          <a:xfrm>
            <a:off x="0" y="0"/>
            <a:ext cx="12192000" cy="67030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Picture 2">
            <a:extLst>
              <a:ext uri="{FF2B5EF4-FFF2-40B4-BE49-F238E27FC236}">
                <a16:creationId xmlns:a16="http://schemas.microsoft.com/office/drawing/2014/main" id="{7E179D00-B6D1-830D-3E51-C38B042EEE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33"/>
          <a:stretch>
            <a:fillRect/>
          </a:stretch>
        </p:blipFill>
        <p:spPr bwMode="auto">
          <a:xfrm>
            <a:off x="11043558" y="0"/>
            <a:ext cx="1148442" cy="659568"/>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4B5E98D6-F4D7-7507-A66D-F1583F3044C0}"/>
              </a:ext>
            </a:extLst>
          </p:cNvPr>
          <p:cNvPicPr>
            <a:picLocks noChangeAspect="1"/>
          </p:cNvPicPr>
          <p:nvPr/>
        </p:nvPicPr>
        <p:blipFill>
          <a:blip r:embed="rId3"/>
          <a:stretch>
            <a:fillRect/>
          </a:stretch>
        </p:blipFill>
        <p:spPr>
          <a:xfrm>
            <a:off x="2209800" y="1237615"/>
            <a:ext cx="7772400" cy="4382770"/>
          </a:xfrm>
          <a:prstGeom prst="rect">
            <a:avLst/>
          </a:prstGeom>
        </p:spPr>
      </p:pic>
    </p:spTree>
    <p:extLst>
      <p:ext uri="{BB962C8B-B14F-4D97-AF65-F5344CB8AC3E}">
        <p14:creationId xmlns:p14="http://schemas.microsoft.com/office/powerpoint/2010/main" val="55255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1CBE5-B11A-2A9B-942A-7FA0CE441650}"/>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14F13C42-82CD-2C2E-3FF8-16FBAB834AF3}"/>
              </a:ext>
            </a:extLst>
          </p:cNvPr>
          <p:cNvSpPr/>
          <p:nvPr/>
        </p:nvSpPr>
        <p:spPr>
          <a:xfrm>
            <a:off x="0" y="0"/>
            <a:ext cx="12192000" cy="670308"/>
          </a:xfrm>
          <a:prstGeom prst="rect">
            <a:avLst/>
          </a:prstGeom>
          <a:solidFill>
            <a:srgbClr val="8E17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Picture 2">
            <a:extLst>
              <a:ext uri="{FF2B5EF4-FFF2-40B4-BE49-F238E27FC236}">
                <a16:creationId xmlns:a16="http://schemas.microsoft.com/office/drawing/2014/main" id="{E16B5048-D13B-B8A7-5EC2-4BFC86114A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1633"/>
          <a:stretch>
            <a:fillRect/>
          </a:stretch>
        </p:blipFill>
        <p:spPr bwMode="auto">
          <a:xfrm>
            <a:off x="11043558" y="0"/>
            <a:ext cx="1148442" cy="659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51331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1763</TotalTime>
  <Words>1977</Words>
  <Application>Microsoft Macintosh PowerPoint</Application>
  <PresentationFormat>宽屏</PresentationFormat>
  <Paragraphs>180</Paragraphs>
  <Slides>14</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等线</vt:lpstr>
      <vt:lpstr>等线 Light</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S224443032</dc:creator>
  <cp:lastModifiedBy>S224443032</cp:lastModifiedBy>
  <cp:revision>22</cp:revision>
  <dcterms:created xsi:type="dcterms:W3CDTF">2026-05-28T04:41:42Z</dcterms:created>
  <dcterms:modified xsi:type="dcterms:W3CDTF">2026-05-29T10:34:05Z</dcterms:modified>
</cp:coreProperties>
</file>